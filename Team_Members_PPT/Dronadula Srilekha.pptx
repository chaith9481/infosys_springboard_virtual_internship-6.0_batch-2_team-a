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05" r:id="rId6"/>
    <p:sldId id="299" r:id="rId7"/>
    <p:sldId id="306" r:id="rId8"/>
    <p:sldId id="300" r:id="rId9"/>
    <p:sldId id="302" r:id="rId10"/>
    <p:sldId id="301" r:id="rId11"/>
    <p:sldId id="303" r:id="rId12"/>
    <p:sldId id="298" r:id="rId13"/>
    <p:sldId id="288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9782EF-8748-4442-9E17-8574C160999D}" v="37" dt="2025-10-31T12:19:31.26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466" y="504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79BCDA-A558-4B43-B9A2-B2E93451E5AF}" type="doc">
      <dgm:prSet loTypeId="urn:microsoft.com/office/officeart/2005/8/layout/p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13590BA-AEBD-4A3B-B15F-77DEAD2DE20D}">
      <dgm:prSet custT="1"/>
      <dgm:spPr/>
      <dgm:t>
        <a:bodyPr/>
        <a:lstStyle/>
        <a:p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Introduction Dashboard: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Overview of data and objectives.</a:t>
          </a:r>
          <a:endParaRPr lang="en-IN" sz="16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A4A5B878-041C-4A3E-8A24-96CF927DD6BF}" type="parTrans" cxnId="{061327E9-4229-4904-A26D-C3213ADA6A3A}">
      <dgm:prSet/>
      <dgm:spPr/>
      <dgm:t>
        <a:bodyPr/>
        <a:lstStyle/>
        <a:p>
          <a:endParaRPr lang="en-IN"/>
        </a:p>
      </dgm:t>
    </dgm:pt>
    <dgm:pt modelId="{642034E3-7677-461B-AD26-AC1836CD31BB}" type="sibTrans" cxnId="{061327E9-4229-4904-A26D-C3213ADA6A3A}">
      <dgm:prSet/>
      <dgm:spPr/>
      <dgm:t>
        <a:bodyPr/>
        <a:lstStyle/>
        <a:p>
          <a:endParaRPr lang="en-IN"/>
        </a:p>
      </dgm:t>
    </dgm:pt>
    <dgm:pt modelId="{4905D3F4-A063-4FDF-9E10-7C10BEC4D790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National Overview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Total votes, turnout, and party share.</a:t>
          </a:r>
        </a:p>
      </dgm:t>
    </dgm:pt>
    <dgm:pt modelId="{B87073FD-E6E4-46AD-8766-45C5567F7345}" type="parTrans" cxnId="{D573351B-9FBC-4818-AEC3-267E853FA4F2}">
      <dgm:prSet/>
      <dgm:spPr/>
      <dgm:t>
        <a:bodyPr/>
        <a:lstStyle/>
        <a:p>
          <a:endParaRPr lang="en-IN"/>
        </a:p>
      </dgm:t>
    </dgm:pt>
    <dgm:pt modelId="{DBF1AC8B-2CCD-4C80-873C-795CD7FE1E1F}" type="sibTrans" cxnId="{D573351B-9FBC-4818-AEC3-267E853FA4F2}">
      <dgm:prSet/>
      <dgm:spPr/>
      <dgm:t>
        <a:bodyPr/>
        <a:lstStyle/>
        <a:p>
          <a:endParaRPr lang="en-IN"/>
        </a:p>
      </dgm:t>
    </dgm:pt>
    <dgm:pt modelId="{E941DDE0-D587-4272-8AE4-638E33DBD1C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State-wise Analysis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:Regional performance comparisons.</a:t>
          </a:r>
        </a:p>
      </dgm:t>
    </dgm:pt>
    <dgm:pt modelId="{2A12F465-F0C7-41D1-AF05-A8F09F2DA443}" type="parTrans" cxnId="{2F2BDDAC-C80A-44D5-9A5A-3AC1CB4A1B18}">
      <dgm:prSet/>
      <dgm:spPr/>
      <dgm:t>
        <a:bodyPr/>
        <a:lstStyle/>
        <a:p>
          <a:endParaRPr lang="en-IN"/>
        </a:p>
      </dgm:t>
    </dgm:pt>
    <dgm:pt modelId="{F4BCE20E-663D-4652-89A1-88897183D213}" type="sibTrans" cxnId="{2F2BDDAC-C80A-44D5-9A5A-3AC1CB4A1B18}">
      <dgm:prSet/>
      <dgm:spPr/>
      <dgm:t>
        <a:bodyPr/>
        <a:lstStyle/>
        <a:p>
          <a:endParaRPr lang="en-IN"/>
        </a:p>
      </dgm:t>
    </dgm:pt>
    <dgm:pt modelId="{3080F251-BA7A-4460-A44E-7B869B1D1221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Party </a:t>
          </a:r>
          <a:r>
            <a:rPr lang="en-US" sz="1600" b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Performance</a:t>
          </a:r>
          <a:r>
            <a:rPr lang="en-US" sz="16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Seat share, dominance, and competition.</a:t>
          </a:r>
          <a:endParaRPr lang="en-US" sz="16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F99AD22A-EE84-4309-B258-705831777612}" type="parTrans" cxnId="{6B62FE49-D425-49B9-B7BA-D78E8B2AFDC6}">
      <dgm:prSet/>
      <dgm:spPr/>
      <dgm:t>
        <a:bodyPr/>
        <a:lstStyle/>
        <a:p>
          <a:endParaRPr lang="en-IN"/>
        </a:p>
      </dgm:t>
    </dgm:pt>
    <dgm:pt modelId="{122DBCA8-BB03-459B-812E-7FA14CF7249F}" type="sibTrans" cxnId="{6B62FE49-D425-49B9-B7BA-D78E8B2AFDC6}">
      <dgm:prSet/>
      <dgm:spPr/>
      <dgm:t>
        <a:bodyPr/>
        <a:lstStyle/>
        <a:p>
          <a:endParaRPr lang="en-IN"/>
        </a:p>
      </dgm:t>
    </dgm:pt>
    <dgm:pt modelId="{B70F6220-7D16-42D2-ABD9-C6DDCDC84A8D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Vote Share Trends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Pattern shifts and regional differences.</a:t>
          </a:r>
        </a:p>
      </dgm:t>
    </dgm:pt>
    <dgm:pt modelId="{F062FBD1-4DA1-4D36-BBFA-F2902930671F}" type="parTrans" cxnId="{8E667F68-E50C-45FE-B9D1-F55B394C404D}">
      <dgm:prSet/>
      <dgm:spPr/>
      <dgm:t>
        <a:bodyPr/>
        <a:lstStyle/>
        <a:p>
          <a:endParaRPr lang="en-IN"/>
        </a:p>
      </dgm:t>
    </dgm:pt>
    <dgm:pt modelId="{8BA4CEC2-9519-4BC9-95F8-B49EB502296F}" type="sibTrans" cxnId="{8E667F68-E50C-45FE-B9D1-F55B394C404D}">
      <dgm:prSet/>
      <dgm:spPr/>
      <dgm:t>
        <a:bodyPr/>
        <a:lstStyle/>
        <a:p>
          <a:endParaRPr lang="en-IN"/>
        </a:p>
      </dgm:t>
    </dgm:pt>
    <dgm:pt modelId="{C8B190C8-32F1-426A-A64A-A0A7695F832A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EVM vs Postal Votes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Comparison of voting methods.</a:t>
          </a:r>
        </a:p>
      </dgm:t>
    </dgm:pt>
    <dgm:pt modelId="{905AEABB-AF39-4FD0-8A25-63CC10447973}" type="parTrans" cxnId="{F701C0EC-C8D6-4961-8778-B091FCB61732}">
      <dgm:prSet/>
      <dgm:spPr/>
      <dgm:t>
        <a:bodyPr/>
        <a:lstStyle/>
        <a:p>
          <a:endParaRPr lang="en-IN"/>
        </a:p>
      </dgm:t>
    </dgm:pt>
    <dgm:pt modelId="{10DE10B0-04F4-4EAC-83E4-E7371DB92119}" type="sibTrans" cxnId="{F701C0EC-C8D6-4961-8778-B091FCB61732}">
      <dgm:prSet/>
      <dgm:spPr/>
      <dgm:t>
        <a:bodyPr/>
        <a:lstStyle/>
        <a:p>
          <a:endParaRPr lang="en-IN"/>
        </a:p>
      </dgm:t>
    </dgm:pt>
    <dgm:pt modelId="{5E8DA0FE-BE0F-4C28-82E5-35321B18BA6D}" type="pres">
      <dgm:prSet presAssocID="{5A79BCDA-A558-4B43-B9A2-B2E93451E5AF}" presName="Name0" presStyleCnt="0">
        <dgm:presLayoutVars>
          <dgm:dir/>
          <dgm:resizeHandles val="exact"/>
        </dgm:presLayoutVars>
      </dgm:prSet>
      <dgm:spPr/>
    </dgm:pt>
    <dgm:pt modelId="{75D895DC-E446-4ABE-9EB0-F84500273950}" type="pres">
      <dgm:prSet presAssocID="{313590BA-AEBD-4A3B-B15F-77DEAD2DE20D}" presName="compNode" presStyleCnt="0"/>
      <dgm:spPr/>
    </dgm:pt>
    <dgm:pt modelId="{30D8D375-0671-4323-91E0-58935A6458DB}" type="pres">
      <dgm:prSet presAssocID="{313590BA-AEBD-4A3B-B15F-77DEAD2DE20D}" presName="pictRect" presStyleLbl="node1" presStyleIdx="0" presStyleCnt="6"/>
      <dgm:spPr>
        <a:blipFill rotWithShape="1">
          <a:blip xmlns:r="http://schemas.openxmlformats.org/officeDocument/2006/relationships" r:embed="rId1"/>
          <a:srcRect/>
          <a:stretch>
            <a:fillRect l="-12000" r="-12000"/>
          </a:stretch>
        </a:blipFill>
      </dgm:spPr>
    </dgm:pt>
    <dgm:pt modelId="{5549D42F-E2B9-479F-90DF-39ACA2F3AADB}" type="pres">
      <dgm:prSet presAssocID="{313590BA-AEBD-4A3B-B15F-77DEAD2DE20D}" presName="textRect" presStyleLbl="revTx" presStyleIdx="0" presStyleCnt="6">
        <dgm:presLayoutVars>
          <dgm:bulletEnabled val="1"/>
        </dgm:presLayoutVars>
      </dgm:prSet>
      <dgm:spPr/>
    </dgm:pt>
    <dgm:pt modelId="{3A83C791-2205-4A26-81EF-D0C247211CE9}" type="pres">
      <dgm:prSet presAssocID="{642034E3-7677-461B-AD26-AC1836CD31BB}" presName="sibTrans" presStyleLbl="sibTrans2D1" presStyleIdx="0" presStyleCnt="0"/>
      <dgm:spPr/>
    </dgm:pt>
    <dgm:pt modelId="{4DFB3C88-1330-4BCA-B3EA-54F8D7BF3972}" type="pres">
      <dgm:prSet presAssocID="{4905D3F4-A063-4FDF-9E10-7C10BEC4D790}" presName="compNode" presStyleCnt="0"/>
      <dgm:spPr/>
    </dgm:pt>
    <dgm:pt modelId="{03C9FF60-C086-4C9E-970C-594E08B665F1}" type="pres">
      <dgm:prSet presAssocID="{4905D3F4-A063-4FDF-9E10-7C10BEC4D790}" presName="pictRect" presStyleLbl="node1" presStyleIdx="1" presStyleCnt="6"/>
      <dgm:spPr>
        <a:blipFill rotWithShape="1">
          <a:blip xmlns:r="http://schemas.openxmlformats.org/officeDocument/2006/relationships" r:embed="rId2"/>
          <a:srcRect/>
          <a:stretch>
            <a:fillRect l="-12000" r="-12000"/>
          </a:stretch>
        </a:blipFill>
      </dgm:spPr>
    </dgm:pt>
    <dgm:pt modelId="{123DC5F1-4BFE-4092-8777-B3999B62DFB1}" type="pres">
      <dgm:prSet presAssocID="{4905D3F4-A063-4FDF-9E10-7C10BEC4D790}" presName="textRect" presStyleLbl="revTx" presStyleIdx="1" presStyleCnt="6">
        <dgm:presLayoutVars>
          <dgm:bulletEnabled val="1"/>
        </dgm:presLayoutVars>
      </dgm:prSet>
      <dgm:spPr/>
    </dgm:pt>
    <dgm:pt modelId="{43661CAF-BEB2-4D25-9C20-546EF2F16461}" type="pres">
      <dgm:prSet presAssocID="{DBF1AC8B-2CCD-4C80-873C-795CD7FE1E1F}" presName="sibTrans" presStyleLbl="sibTrans2D1" presStyleIdx="0" presStyleCnt="0"/>
      <dgm:spPr/>
    </dgm:pt>
    <dgm:pt modelId="{51151E9E-C85C-40F8-A6B5-53888ED86F03}" type="pres">
      <dgm:prSet presAssocID="{E941DDE0-D587-4272-8AE4-638E33DBD1C7}" presName="compNode" presStyleCnt="0"/>
      <dgm:spPr/>
    </dgm:pt>
    <dgm:pt modelId="{3AFD8542-AC95-4CA5-8BED-44939BE38EF1}" type="pres">
      <dgm:prSet presAssocID="{E941DDE0-D587-4272-8AE4-638E33DBD1C7}" presName="pictRect" presStyleLbl="node1" presStyleIdx="2" presStyleCnt="6"/>
      <dgm:spPr>
        <a:blipFill rotWithShape="1">
          <a:blip xmlns:r="http://schemas.openxmlformats.org/officeDocument/2006/relationships" r:embed="rId3"/>
          <a:srcRect/>
          <a:stretch>
            <a:fillRect l="-11000" r="-11000"/>
          </a:stretch>
        </a:blipFill>
      </dgm:spPr>
    </dgm:pt>
    <dgm:pt modelId="{14FBAA2F-8753-421D-BF90-226FE0E682B0}" type="pres">
      <dgm:prSet presAssocID="{E941DDE0-D587-4272-8AE4-638E33DBD1C7}" presName="textRect" presStyleLbl="revTx" presStyleIdx="2" presStyleCnt="6">
        <dgm:presLayoutVars>
          <dgm:bulletEnabled val="1"/>
        </dgm:presLayoutVars>
      </dgm:prSet>
      <dgm:spPr/>
    </dgm:pt>
    <dgm:pt modelId="{79E828B4-976F-4223-938F-DCC2E4EDD50B}" type="pres">
      <dgm:prSet presAssocID="{F4BCE20E-663D-4652-89A1-88897183D213}" presName="sibTrans" presStyleLbl="sibTrans2D1" presStyleIdx="0" presStyleCnt="0"/>
      <dgm:spPr/>
    </dgm:pt>
    <dgm:pt modelId="{5238B705-B808-4DC3-803A-BF4212232A7C}" type="pres">
      <dgm:prSet presAssocID="{3080F251-BA7A-4460-A44E-7B869B1D1221}" presName="compNode" presStyleCnt="0"/>
      <dgm:spPr/>
    </dgm:pt>
    <dgm:pt modelId="{6D0C42C8-764D-477C-AED9-C8725487B5D0}" type="pres">
      <dgm:prSet presAssocID="{3080F251-BA7A-4460-A44E-7B869B1D1221}" presName="pictRect" presStyleLbl="node1" presStyleIdx="3" presStyleCnt="6"/>
      <dgm:spPr>
        <a:blipFill rotWithShape="1">
          <a:blip xmlns:r="http://schemas.openxmlformats.org/officeDocument/2006/relationships" r:embed="rId4"/>
          <a:srcRect/>
          <a:stretch>
            <a:fillRect l="-11000" r="-11000"/>
          </a:stretch>
        </a:blipFill>
      </dgm:spPr>
    </dgm:pt>
    <dgm:pt modelId="{CA003FB4-26DF-4EE5-A07F-93C86E97E230}" type="pres">
      <dgm:prSet presAssocID="{3080F251-BA7A-4460-A44E-7B869B1D1221}" presName="textRect" presStyleLbl="revTx" presStyleIdx="3" presStyleCnt="6">
        <dgm:presLayoutVars>
          <dgm:bulletEnabled val="1"/>
        </dgm:presLayoutVars>
      </dgm:prSet>
      <dgm:spPr/>
    </dgm:pt>
    <dgm:pt modelId="{1EECDA74-A4E2-4564-85A6-181ED13DA8C1}" type="pres">
      <dgm:prSet presAssocID="{122DBCA8-BB03-459B-812E-7FA14CF7249F}" presName="sibTrans" presStyleLbl="sibTrans2D1" presStyleIdx="0" presStyleCnt="0"/>
      <dgm:spPr/>
    </dgm:pt>
    <dgm:pt modelId="{A746B897-2BD0-4AEC-ACB4-8D2F1AA533C8}" type="pres">
      <dgm:prSet presAssocID="{B70F6220-7D16-42D2-ABD9-C6DDCDC84A8D}" presName="compNode" presStyleCnt="0"/>
      <dgm:spPr/>
    </dgm:pt>
    <dgm:pt modelId="{70A54725-4679-480B-B7EC-2EB957E5796B}" type="pres">
      <dgm:prSet presAssocID="{B70F6220-7D16-42D2-ABD9-C6DDCDC84A8D}" presName="pictRect" presStyleLbl="node1" presStyleIdx="4" presStyleCnt="6"/>
      <dgm:spPr>
        <a:blipFill rotWithShape="1">
          <a:blip xmlns:r="http://schemas.openxmlformats.org/officeDocument/2006/relationships" r:embed="rId5"/>
          <a:srcRect/>
          <a:stretch>
            <a:fillRect l="-11000" r="-11000"/>
          </a:stretch>
        </a:blipFill>
      </dgm:spPr>
    </dgm:pt>
    <dgm:pt modelId="{F990D7E3-4C94-4D49-974F-3E8535E13A7A}" type="pres">
      <dgm:prSet presAssocID="{B70F6220-7D16-42D2-ABD9-C6DDCDC84A8D}" presName="textRect" presStyleLbl="revTx" presStyleIdx="4" presStyleCnt="6">
        <dgm:presLayoutVars>
          <dgm:bulletEnabled val="1"/>
        </dgm:presLayoutVars>
      </dgm:prSet>
      <dgm:spPr/>
    </dgm:pt>
    <dgm:pt modelId="{BCA99ADD-B485-43D7-81A2-CA8583EE3B11}" type="pres">
      <dgm:prSet presAssocID="{8BA4CEC2-9519-4BC9-95F8-B49EB502296F}" presName="sibTrans" presStyleLbl="sibTrans2D1" presStyleIdx="0" presStyleCnt="0"/>
      <dgm:spPr/>
    </dgm:pt>
    <dgm:pt modelId="{7420CE0C-EC99-4E55-B75B-91B7E5D38616}" type="pres">
      <dgm:prSet presAssocID="{C8B190C8-32F1-426A-A64A-A0A7695F832A}" presName="compNode" presStyleCnt="0"/>
      <dgm:spPr/>
    </dgm:pt>
    <dgm:pt modelId="{D989D73E-0C2B-4A45-BE55-66FE455271A8}" type="pres">
      <dgm:prSet presAssocID="{C8B190C8-32F1-426A-A64A-A0A7695F832A}" presName="pictRect" presStyleLbl="node1" presStyleIdx="5" presStyleCnt="6"/>
      <dgm:spPr>
        <a:blipFill rotWithShape="1">
          <a:blip xmlns:r="http://schemas.openxmlformats.org/officeDocument/2006/relationships" r:embed="rId6"/>
          <a:srcRect/>
          <a:stretch>
            <a:fillRect l="-9000" r="-9000"/>
          </a:stretch>
        </a:blipFill>
      </dgm:spPr>
    </dgm:pt>
    <dgm:pt modelId="{D4CFD9F9-2427-49BB-9BE3-DD0F8D98EDDE}" type="pres">
      <dgm:prSet presAssocID="{C8B190C8-32F1-426A-A64A-A0A7695F832A}" presName="textRect" presStyleLbl="revTx" presStyleIdx="5" presStyleCnt="6">
        <dgm:presLayoutVars>
          <dgm:bulletEnabled val="1"/>
        </dgm:presLayoutVars>
      </dgm:prSet>
      <dgm:spPr/>
    </dgm:pt>
  </dgm:ptLst>
  <dgm:cxnLst>
    <dgm:cxn modelId="{1B862F01-B069-4D3F-BA6F-FF5F80F95A7D}" type="presOf" srcId="{4905D3F4-A063-4FDF-9E10-7C10BEC4D790}" destId="{123DC5F1-4BFE-4092-8777-B3999B62DFB1}" srcOrd="0" destOrd="0" presId="urn:microsoft.com/office/officeart/2005/8/layout/pList1"/>
    <dgm:cxn modelId="{CE37DF01-EA75-4A79-95E7-8C8DF8B612DF}" type="presOf" srcId="{DBF1AC8B-2CCD-4C80-873C-795CD7FE1E1F}" destId="{43661CAF-BEB2-4D25-9C20-546EF2F16461}" srcOrd="0" destOrd="0" presId="urn:microsoft.com/office/officeart/2005/8/layout/pList1"/>
    <dgm:cxn modelId="{A17F2A04-DC28-4EF9-B289-266E70714828}" type="presOf" srcId="{313590BA-AEBD-4A3B-B15F-77DEAD2DE20D}" destId="{5549D42F-E2B9-479F-90DF-39ACA2F3AADB}" srcOrd="0" destOrd="0" presId="urn:microsoft.com/office/officeart/2005/8/layout/pList1"/>
    <dgm:cxn modelId="{954D5D13-1968-40E5-89B0-F53A6864671A}" type="presOf" srcId="{122DBCA8-BB03-459B-812E-7FA14CF7249F}" destId="{1EECDA74-A4E2-4564-85A6-181ED13DA8C1}" srcOrd="0" destOrd="0" presId="urn:microsoft.com/office/officeart/2005/8/layout/pList1"/>
    <dgm:cxn modelId="{D573351B-9FBC-4818-AEC3-267E853FA4F2}" srcId="{5A79BCDA-A558-4B43-B9A2-B2E93451E5AF}" destId="{4905D3F4-A063-4FDF-9E10-7C10BEC4D790}" srcOrd="1" destOrd="0" parTransId="{B87073FD-E6E4-46AD-8766-45C5567F7345}" sibTransId="{DBF1AC8B-2CCD-4C80-873C-795CD7FE1E1F}"/>
    <dgm:cxn modelId="{1A6A623B-3B72-4DE9-AA64-76BC217ED161}" type="presOf" srcId="{5A79BCDA-A558-4B43-B9A2-B2E93451E5AF}" destId="{5E8DA0FE-BE0F-4C28-82E5-35321B18BA6D}" srcOrd="0" destOrd="0" presId="urn:microsoft.com/office/officeart/2005/8/layout/pList1"/>
    <dgm:cxn modelId="{52135140-67C3-4282-BE38-B70061B4879C}" type="presOf" srcId="{E941DDE0-D587-4272-8AE4-638E33DBD1C7}" destId="{14FBAA2F-8753-421D-BF90-226FE0E682B0}" srcOrd="0" destOrd="0" presId="urn:microsoft.com/office/officeart/2005/8/layout/pList1"/>
    <dgm:cxn modelId="{8E667F68-E50C-45FE-B9D1-F55B394C404D}" srcId="{5A79BCDA-A558-4B43-B9A2-B2E93451E5AF}" destId="{B70F6220-7D16-42D2-ABD9-C6DDCDC84A8D}" srcOrd="4" destOrd="0" parTransId="{F062FBD1-4DA1-4D36-BBFA-F2902930671F}" sibTransId="{8BA4CEC2-9519-4BC9-95F8-B49EB502296F}"/>
    <dgm:cxn modelId="{6B62FE49-D425-49B9-B7BA-D78E8B2AFDC6}" srcId="{5A79BCDA-A558-4B43-B9A2-B2E93451E5AF}" destId="{3080F251-BA7A-4460-A44E-7B869B1D1221}" srcOrd="3" destOrd="0" parTransId="{F99AD22A-EE84-4309-B258-705831777612}" sibTransId="{122DBCA8-BB03-459B-812E-7FA14CF7249F}"/>
    <dgm:cxn modelId="{169D5D6B-B4B0-4585-8CE4-826FED651AF4}" type="presOf" srcId="{C8B190C8-32F1-426A-A64A-A0A7695F832A}" destId="{D4CFD9F9-2427-49BB-9BE3-DD0F8D98EDDE}" srcOrd="0" destOrd="0" presId="urn:microsoft.com/office/officeart/2005/8/layout/pList1"/>
    <dgm:cxn modelId="{AA4E1E94-E928-48E2-8DE1-FE984F1B2602}" type="presOf" srcId="{642034E3-7677-461B-AD26-AC1836CD31BB}" destId="{3A83C791-2205-4A26-81EF-D0C247211CE9}" srcOrd="0" destOrd="0" presId="urn:microsoft.com/office/officeart/2005/8/layout/pList1"/>
    <dgm:cxn modelId="{2F2BDDAC-C80A-44D5-9A5A-3AC1CB4A1B18}" srcId="{5A79BCDA-A558-4B43-B9A2-B2E93451E5AF}" destId="{E941DDE0-D587-4272-8AE4-638E33DBD1C7}" srcOrd="2" destOrd="0" parTransId="{2A12F465-F0C7-41D1-AF05-A8F09F2DA443}" sibTransId="{F4BCE20E-663D-4652-89A1-88897183D213}"/>
    <dgm:cxn modelId="{6D8ED6B4-F1A2-46AF-86D9-FB7DC636CB2C}" type="presOf" srcId="{3080F251-BA7A-4460-A44E-7B869B1D1221}" destId="{CA003FB4-26DF-4EE5-A07F-93C86E97E230}" srcOrd="0" destOrd="0" presId="urn:microsoft.com/office/officeart/2005/8/layout/pList1"/>
    <dgm:cxn modelId="{E463F7C9-F2A7-44CD-8499-84677B1A028F}" type="presOf" srcId="{F4BCE20E-663D-4652-89A1-88897183D213}" destId="{79E828B4-976F-4223-938F-DCC2E4EDD50B}" srcOrd="0" destOrd="0" presId="urn:microsoft.com/office/officeart/2005/8/layout/pList1"/>
    <dgm:cxn modelId="{D9CE28CB-FFFF-49BF-9E81-DEBB0A038512}" type="presOf" srcId="{B70F6220-7D16-42D2-ABD9-C6DDCDC84A8D}" destId="{F990D7E3-4C94-4D49-974F-3E8535E13A7A}" srcOrd="0" destOrd="0" presId="urn:microsoft.com/office/officeart/2005/8/layout/pList1"/>
    <dgm:cxn modelId="{E22199D6-C1EF-4A92-B601-6C2545DDAFE5}" type="presOf" srcId="{8BA4CEC2-9519-4BC9-95F8-B49EB502296F}" destId="{BCA99ADD-B485-43D7-81A2-CA8583EE3B11}" srcOrd="0" destOrd="0" presId="urn:microsoft.com/office/officeart/2005/8/layout/pList1"/>
    <dgm:cxn modelId="{061327E9-4229-4904-A26D-C3213ADA6A3A}" srcId="{5A79BCDA-A558-4B43-B9A2-B2E93451E5AF}" destId="{313590BA-AEBD-4A3B-B15F-77DEAD2DE20D}" srcOrd="0" destOrd="0" parTransId="{A4A5B878-041C-4A3E-8A24-96CF927DD6BF}" sibTransId="{642034E3-7677-461B-AD26-AC1836CD31BB}"/>
    <dgm:cxn modelId="{F701C0EC-C8D6-4961-8778-B091FCB61732}" srcId="{5A79BCDA-A558-4B43-B9A2-B2E93451E5AF}" destId="{C8B190C8-32F1-426A-A64A-A0A7695F832A}" srcOrd="5" destOrd="0" parTransId="{905AEABB-AF39-4FD0-8A25-63CC10447973}" sibTransId="{10DE10B0-04F4-4EAC-83E4-E7371DB92119}"/>
    <dgm:cxn modelId="{EEE0F654-06B4-4823-8545-EAD614A7257B}" type="presParOf" srcId="{5E8DA0FE-BE0F-4C28-82E5-35321B18BA6D}" destId="{75D895DC-E446-4ABE-9EB0-F84500273950}" srcOrd="0" destOrd="0" presId="urn:microsoft.com/office/officeart/2005/8/layout/pList1"/>
    <dgm:cxn modelId="{74ABA4AE-5C00-46FA-B348-263B699590DD}" type="presParOf" srcId="{75D895DC-E446-4ABE-9EB0-F84500273950}" destId="{30D8D375-0671-4323-91E0-58935A6458DB}" srcOrd="0" destOrd="0" presId="urn:microsoft.com/office/officeart/2005/8/layout/pList1"/>
    <dgm:cxn modelId="{757557C9-906C-4502-9969-B128947E3A84}" type="presParOf" srcId="{75D895DC-E446-4ABE-9EB0-F84500273950}" destId="{5549D42F-E2B9-479F-90DF-39ACA2F3AADB}" srcOrd="1" destOrd="0" presId="urn:microsoft.com/office/officeart/2005/8/layout/pList1"/>
    <dgm:cxn modelId="{39DE5CF4-B355-491F-8673-5505D3907A53}" type="presParOf" srcId="{5E8DA0FE-BE0F-4C28-82E5-35321B18BA6D}" destId="{3A83C791-2205-4A26-81EF-D0C247211CE9}" srcOrd="1" destOrd="0" presId="urn:microsoft.com/office/officeart/2005/8/layout/pList1"/>
    <dgm:cxn modelId="{41EFF5D7-5B63-4D84-9ABE-C8BA404F1DF1}" type="presParOf" srcId="{5E8DA0FE-BE0F-4C28-82E5-35321B18BA6D}" destId="{4DFB3C88-1330-4BCA-B3EA-54F8D7BF3972}" srcOrd="2" destOrd="0" presId="urn:microsoft.com/office/officeart/2005/8/layout/pList1"/>
    <dgm:cxn modelId="{3246A8B3-704E-4E6F-A6CD-EE28E12C6569}" type="presParOf" srcId="{4DFB3C88-1330-4BCA-B3EA-54F8D7BF3972}" destId="{03C9FF60-C086-4C9E-970C-594E08B665F1}" srcOrd="0" destOrd="0" presId="urn:microsoft.com/office/officeart/2005/8/layout/pList1"/>
    <dgm:cxn modelId="{936DF3AD-CBCF-4649-9520-15F45EA1606D}" type="presParOf" srcId="{4DFB3C88-1330-4BCA-B3EA-54F8D7BF3972}" destId="{123DC5F1-4BFE-4092-8777-B3999B62DFB1}" srcOrd="1" destOrd="0" presId="urn:microsoft.com/office/officeart/2005/8/layout/pList1"/>
    <dgm:cxn modelId="{DF9382E7-A4DA-4AF1-A636-22819155B668}" type="presParOf" srcId="{5E8DA0FE-BE0F-4C28-82E5-35321B18BA6D}" destId="{43661CAF-BEB2-4D25-9C20-546EF2F16461}" srcOrd="3" destOrd="0" presId="urn:microsoft.com/office/officeart/2005/8/layout/pList1"/>
    <dgm:cxn modelId="{7EBBF342-A9D3-43CA-AD10-5F5CB094D055}" type="presParOf" srcId="{5E8DA0FE-BE0F-4C28-82E5-35321B18BA6D}" destId="{51151E9E-C85C-40F8-A6B5-53888ED86F03}" srcOrd="4" destOrd="0" presId="urn:microsoft.com/office/officeart/2005/8/layout/pList1"/>
    <dgm:cxn modelId="{BDF433D0-4BBB-44FF-B00F-63EF00FB956D}" type="presParOf" srcId="{51151E9E-C85C-40F8-A6B5-53888ED86F03}" destId="{3AFD8542-AC95-4CA5-8BED-44939BE38EF1}" srcOrd="0" destOrd="0" presId="urn:microsoft.com/office/officeart/2005/8/layout/pList1"/>
    <dgm:cxn modelId="{5C8813FD-EA00-4D93-88E2-31DCCFC56665}" type="presParOf" srcId="{51151E9E-C85C-40F8-A6B5-53888ED86F03}" destId="{14FBAA2F-8753-421D-BF90-226FE0E682B0}" srcOrd="1" destOrd="0" presId="urn:microsoft.com/office/officeart/2005/8/layout/pList1"/>
    <dgm:cxn modelId="{392E5255-0CAE-447E-AD0B-3208622B8EA5}" type="presParOf" srcId="{5E8DA0FE-BE0F-4C28-82E5-35321B18BA6D}" destId="{79E828B4-976F-4223-938F-DCC2E4EDD50B}" srcOrd="5" destOrd="0" presId="urn:microsoft.com/office/officeart/2005/8/layout/pList1"/>
    <dgm:cxn modelId="{00982197-FA13-420C-8D21-08EECBDAFF35}" type="presParOf" srcId="{5E8DA0FE-BE0F-4C28-82E5-35321B18BA6D}" destId="{5238B705-B808-4DC3-803A-BF4212232A7C}" srcOrd="6" destOrd="0" presId="urn:microsoft.com/office/officeart/2005/8/layout/pList1"/>
    <dgm:cxn modelId="{D48002FD-87EC-45AB-80CB-5BE042F8276B}" type="presParOf" srcId="{5238B705-B808-4DC3-803A-BF4212232A7C}" destId="{6D0C42C8-764D-477C-AED9-C8725487B5D0}" srcOrd="0" destOrd="0" presId="urn:microsoft.com/office/officeart/2005/8/layout/pList1"/>
    <dgm:cxn modelId="{C28ECA25-B4BA-4D0C-A512-3E1FB85101E8}" type="presParOf" srcId="{5238B705-B808-4DC3-803A-BF4212232A7C}" destId="{CA003FB4-26DF-4EE5-A07F-93C86E97E230}" srcOrd="1" destOrd="0" presId="urn:microsoft.com/office/officeart/2005/8/layout/pList1"/>
    <dgm:cxn modelId="{FFCE6C18-A266-47AB-8A2B-D951C3426BE8}" type="presParOf" srcId="{5E8DA0FE-BE0F-4C28-82E5-35321B18BA6D}" destId="{1EECDA74-A4E2-4564-85A6-181ED13DA8C1}" srcOrd="7" destOrd="0" presId="urn:microsoft.com/office/officeart/2005/8/layout/pList1"/>
    <dgm:cxn modelId="{ECDD15FA-D160-4660-8351-250B4CC76441}" type="presParOf" srcId="{5E8DA0FE-BE0F-4C28-82E5-35321B18BA6D}" destId="{A746B897-2BD0-4AEC-ACB4-8D2F1AA533C8}" srcOrd="8" destOrd="0" presId="urn:microsoft.com/office/officeart/2005/8/layout/pList1"/>
    <dgm:cxn modelId="{09E1DC48-403F-4A30-82A8-35339D69C39A}" type="presParOf" srcId="{A746B897-2BD0-4AEC-ACB4-8D2F1AA533C8}" destId="{70A54725-4679-480B-B7EC-2EB957E5796B}" srcOrd="0" destOrd="0" presId="urn:microsoft.com/office/officeart/2005/8/layout/pList1"/>
    <dgm:cxn modelId="{9AB6D0EB-C39D-47A8-BF4E-9F351862155B}" type="presParOf" srcId="{A746B897-2BD0-4AEC-ACB4-8D2F1AA533C8}" destId="{F990D7E3-4C94-4D49-974F-3E8535E13A7A}" srcOrd="1" destOrd="0" presId="urn:microsoft.com/office/officeart/2005/8/layout/pList1"/>
    <dgm:cxn modelId="{E9FCC21B-0789-435A-AE82-8DD8464FF2B9}" type="presParOf" srcId="{5E8DA0FE-BE0F-4C28-82E5-35321B18BA6D}" destId="{BCA99ADD-B485-43D7-81A2-CA8583EE3B11}" srcOrd="9" destOrd="0" presId="urn:microsoft.com/office/officeart/2005/8/layout/pList1"/>
    <dgm:cxn modelId="{41AA0CB7-1434-4E9B-B50D-5307C6B9317A}" type="presParOf" srcId="{5E8DA0FE-BE0F-4C28-82E5-35321B18BA6D}" destId="{7420CE0C-EC99-4E55-B75B-91B7E5D38616}" srcOrd="10" destOrd="0" presId="urn:microsoft.com/office/officeart/2005/8/layout/pList1"/>
    <dgm:cxn modelId="{3C900BDB-7408-4197-90F6-B72FEEC201E8}" type="presParOf" srcId="{7420CE0C-EC99-4E55-B75B-91B7E5D38616}" destId="{D989D73E-0C2B-4A45-BE55-66FE455271A8}" srcOrd="0" destOrd="0" presId="urn:microsoft.com/office/officeart/2005/8/layout/pList1"/>
    <dgm:cxn modelId="{D10565AE-3D06-4557-B956-E67C93240AA3}" type="presParOf" srcId="{7420CE0C-EC99-4E55-B75B-91B7E5D38616}" destId="{D4CFD9F9-2427-49BB-9BE3-DD0F8D98EDDE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68E285-D7F5-4E36-A54F-A1B0CA13A4DC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2C7DC12-8BC8-4FC8-9301-45EDB4607D21}">
      <dgm:prSet phldrT="[Text]" custT="1"/>
      <dgm:spPr/>
      <dgm:t>
        <a:bodyPr/>
        <a:lstStyle/>
        <a:p>
          <a:pPr algn="l"/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Data Acquisition &amp; Cleaning: </a:t>
          </a:r>
        </a:p>
        <a:p>
          <a:pPr algn="l"/>
          <a:endParaRPr lang="en-US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300" b="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and refined the Lok Sabha election dataset, removing inconsistencies and formatting data for Power BI integration.</a:t>
          </a:r>
          <a:br>
            <a:rPr lang="en-US" sz="13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300" dirty="0"/>
        </a:p>
      </dgm:t>
    </dgm:pt>
    <dgm:pt modelId="{1DCCDC7D-767C-4E4D-9A7F-DAAF5670B4FA}" type="parTrans" cxnId="{2F63975B-41B4-48FF-B6AE-609B2EE9B3B0}">
      <dgm:prSet/>
      <dgm:spPr/>
      <dgm:t>
        <a:bodyPr/>
        <a:lstStyle/>
        <a:p>
          <a:endParaRPr lang="en-IN"/>
        </a:p>
      </dgm:t>
    </dgm:pt>
    <dgm:pt modelId="{642EDC3F-EA32-40B3-B42A-115801746574}" type="sibTrans" cxnId="{2F63975B-41B4-48FF-B6AE-609B2EE9B3B0}">
      <dgm:prSet/>
      <dgm:spPr/>
      <dgm:t>
        <a:bodyPr/>
        <a:lstStyle/>
        <a:p>
          <a:endParaRPr lang="en-IN"/>
        </a:p>
      </dgm:t>
    </dgm:pt>
    <dgm:pt modelId="{E718B674-44C7-4286-A174-5F344415AA61}">
      <dgm:prSet phldrT="[Text]" custT="1"/>
      <dgm:spPr/>
      <dgm:t>
        <a:bodyPr/>
        <a:lstStyle/>
        <a:p>
          <a:pPr algn="l"/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Data Modeling:</a:t>
          </a:r>
        </a:p>
        <a:p>
          <a:pPr algn="l"/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Built relationships between multiple tables, defined DAX measures, and ensured seamless data flow for accurate analysis.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24855772-3FD4-4747-AEF2-9513DB2B4EA7}" type="parTrans" cxnId="{7FB80528-B68D-4050-96A1-D38D996F268B}">
      <dgm:prSet/>
      <dgm:spPr/>
      <dgm:t>
        <a:bodyPr/>
        <a:lstStyle/>
        <a:p>
          <a:endParaRPr lang="en-IN"/>
        </a:p>
      </dgm:t>
    </dgm:pt>
    <dgm:pt modelId="{6CB6C4C2-0ECC-48A9-95EB-274F00F0D67C}" type="sibTrans" cxnId="{7FB80528-B68D-4050-96A1-D38D996F268B}">
      <dgm:prSet/>
      <dgm:spPr/>
      <dgm:t>
        <a:bodyPr/>
        <a:lstStyle/>
        <a:p>
          <a:endParaRPr lang="en-IN"/>
        </a:p>
      </dgm:t>
    </dgm:pt>
    <dgm:pt modelId="{56CC0ECA-F5BE-447B-921A-B3BB4B82DE46}">
      <dgm:prSet phldrT="[Text]" custT="1"/>
      <dgm:spPr/>
      <dgm:t>
        <a:bodyPr/>
        <a:lstStyle/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 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 Development:</a:t>
          </a:r>
        </a:p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Designed interactive visuals for national, state, and party-level insights with a focus on clarity and usability.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D8463029-0EEC-48B9-9969-6E20994B286D}" type="parTrans" cxnId="{829D8DF6-6226-48D8-89DD-80C391BCB6C4}">
      <dgm:prSet/>
      <dgm:spPr/>
      <dgm:t>
        <a:bodyPr/>
        <a:lstStyle/>
        <a:p>
          <a:endParaRPr lang="en-IN"/>
        </a:p>
      </dgm:t>
    </dgm:pt>
    <dgm:pt modelId="{62B916F3-E4F2-4CFB-80ED-AE38D0C7479E}" type="sibTrans" cxnId="{829D8DF6-6226-48D8-89DD-80C391BCB6C4}">
      <dgm:prSet/>
      <dgm:spPr/>
      <dgm:t>
        <a:bodyPr/>
        <a:lstStyle/>
        <a:p>
          <a:endParaRPr lang="en-IN"/>
        </a:p>
      </dgm:t>
    </dgm:pt>
    <dgm:pt modelId="{48ABA3E2-9283-4B55-9476-14368C28ADA5}">
      <dgm:prSet phldrT="[Text]" custT="1"/>
      <dgm:spPr/>
      <dgm:t>
        <a:bodyPr/>
        <a:lstStyle/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 :</a:t>
          </a:r>
        </a:p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Optimization:</a:t>
          </a:r>
        </a:p>
        <a:p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 Conducted internal reviews, incorporated mentor feedback, and enhanced visual storytelling and performance.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C3ED19ED-40EB-4AE3-A274-0A3E2E4C4205}" type="parTrans" cxnId="{725424DB-DFCD-4654-8C8E-63EEDDE652F9}">
      <dgm:prSet/>
      <dgm:spPr/>
      <dgm:t>
        <a:bodyPr/>
        <a:lstStyle/>
        <a:p>
          <a:endParaRPr lang="en-IN"/>
        </a:p>
      </dgm:t>
    </dgm:pt>
    <dgm:pt modelId="{C0599FEC-774F-42A8-926A-6405B5C6C9B9}" type="sibTrans" cxnId="{725424DB-DFCD-4654-8C8E-63EEDDE652F9}">
      <dgm:prSet/>
      <dgm:spPr/>
      <dgm:t>
        <a:bodyPr/>
        <a:lstStyle/>
        <a:p>
          <a:endParaRPr lang="en-IN"/>
        </a:p>
      </dgm:t>
    </dgm:pt>
    <dgm:pt modelId="{92C5B5DD-49CC-4D8C-9BD0-73445012D4EF}" type="pres">
      <dgm:prSet presAssocID="{9068E285-D7F5-4E36-A54F-A1B0CA13A4DC}" presName="CompostProcess" presStyleCnt="0">
        <dgm:presLayoutVars>
          <dgm:dir/>
          <dgm:resizeHandles val="exact"/>
        </dgm:presLayoutVars>
      </dgm:prSet>
      <dgm:spPr/>
    </dgm:pt>
    <dgm:pt modelId="{AD1D2E6F-1933-463D-969F-33C887B9CE23}" type="pres">
      <dgm:prSet presAssocID="{9068E285-D7F5-4E36-A54F-A1B0CA13A4DC}" presName="arrow" presStyleLbl="bgShp" presStyleIdx="0" presStyleCnt="1" custScaleX="117647"/>
      <dgm:spPr/>
    </dgm:pt>
    <dgm:pt modelId="{36AF4CBF-EB6E-4162-BB34-A1F26D2F4CFD}" type="pres">
      <dgm:prSet presAssocID="{9068E285-D7F5-4E36-A54F-A1B0CA13A4DC}" presName="linearProcess" presStyleCnt="0"/>
      <dgm:spPr/>
    </dgm:pt>
    <dgm:pt modelId="{7176EDE6-74D3-4BA9-A3B7-B1CE719CAEE1}" type="pres">
      <dgm:prSet presAssocID="{D2C7DC12-8BC8-4FC8-9301-45EDB4607D21}" presName="textNode" presStyleLbl="node1" presStyleIdx="0" presStyleCnt="4" custScaleX="117458" custScaleY="143972" custLinFactNeighborX="3103" custLinFactNeighborY="-524">
        <dgm:presLayoutVars>
          <dgm:bulletEnabled val="1"/>
        </dgm:presLayoutVars>
      </dgm:prSet>
      <dgm:spPr/>
    </dgm:pt>
    <dgm:pt modelId="{635D0CE0-11C7-4BC2-A0F1-C0DD12D34768}" type="pres">
      <dgm:prSet presAssocID="{642EDC3F-EA32-40B3-B42A-115801746574}" presName="sibTrans" presStyleCnt="0"/>
      <dgm:spPr/>
    </dgm:pt>
    <dgm:pt modelId="{E786C344-D414-495C-9C89-2D16EE8DE6D3}" type="pres">
      <dgm:prSet presAssocID="{E718B674-44C7-4286-A174-5F344415AA61}" presName="textNode" presStyleLbl="node1" presStyleIdx="1" presStyleCnt="4" custScaleX="112674" custScaleY="147601">
        <dgm:presLayoutVars>
          <dgm:bulletEnabled val="1"/>
        </dgm:presLayoutVars>
      </dgm:prSet>
      <dgm:spPr/>
    </dgm:pt>
    <dgm:pt modelId="{F76E6927-ACE2-4774-8E33-D3D5FCCECFC9}" type="pres">
      <dgm:prSet presAssocID="{6CB6C4C2-0ECC-48A9-95EB-274F00F0D67C}" presName="sibTrans" presStyleCnt="0"/>
      <dgm:spPr/>
    </dgm:pt>
    <dgm:pt modelId="{EF782BC3-9DE2-46C4-84CA-ED3F74448466}" type="pres">
      <dgm:prSet presAssocID="{56CC0ECA-F5BE-447B-921A-B3BB4B82DE46}" presName="textNode" presStyleLbl="node1" presStyleIdx="2" presStyleCnt="4" custScaleX="118597" custScaleY="146908">
        <dgm:presLayoutVars>
          <dgm:bulletEnabled val="1"/>
        </dgm:presLayoutVars>
      </dgm:prSet>
      <dgm:spPr/>
    </dgm:pt>
    <dgm:pt modelId="{19526C81-E0D1-43F0-801A-1BCE1442FB99}" type="pres">
      <dgm:prSet presAssocID="{62B916F3-E4F2-4CFB-80ED-AE38D0C7479E}" presName="sibTrans" presStyleCnt="0"/>
      <dgm:spPr/>
    </dgm:pt>
    <dgm:pt modelId="{ABE95440-6E3E-4AEC-92C7-CA724F3F8315}" type="pres">
      <dgm:prSet presAssocID="{48ABA3E2-9283-4B55-9476-14368C28ADA5}" presName="textNode" presStyleLbl="node1" presStyleIdx="3" presStyleCnt="4" custScaleX="116588" custScaleY="147608">
        <dgm:presLayoutVars>
          <dgm:bulletEnabled val="1"/>
        </dgm:presLayoutVars>
      </dgm:prSet>
      <dgm:spPr/>
    </dgm:pt>
  </dgm:ptLst>
  <dgm:cxnLst>
    <dgm:cxn modelId="{BD041F1D-5592-4990-96D8-3B58A646627E}" type="presOf" srcId="{56CC0ECA-F5BE-447B-921A-B3BB4B82DE46}" destId="{EF782BC3-9DE2-46C4-84CA-ED3F74448466}" srcOrd="0" destOrd="0" presId="urn:microsoft.com/office/officeart/2005/8/layout/hProcess9"/>
    <dgm:cxn modelId="{7FB80528-B68D-4050-96A1-D38D996F268B}" srcId="{9068E285-D7F5-4E36-A54F-A1B0CA13A4DC}" destId="{E718B674-44C7-4286-A174-5F344415AA61}" srcOrd="1" destOrd="0" parTransId="{24855772-3FD4-4747-AEF2-9513DB2B4EA7}" sibTransId="{6CB6C4C2-0ECC-48A9-95EB-274F00F0D67C}"/>
    <dgm:cxn modelId="{2F63975B-41B4-48FF-B6AE-609B2EE9B3B0}" srcId="{9068E285-D7F5-4E36-A54F-A1B0CA13A4DC}" destId="{D2C7DC12-8BC8-4FC8-9301-45EDB4607D21}" srcOrd="0" destOrd="0" parTransId="{1DCCDC7D-767C-4E4D-9A7F-DAAF5670B4FA}" sibTransId="{642EDC3F-EA32-40B3-B42A-115801746574}"/>
    <dgm:cxn modelId="{02813B68-B0EA-47D9-80D6-4B5D86568F37}" type="presOf" srcId="{D2C7DC12-8BC8-4FC8-9301-45EDB4607D21}" destId="{7176EDE6-74D3-4BA9-A3B7-B1CE719CAEE1}" srcOrd="0" destOrd="0" presId="urn:microsoft.com/office/officeart/2005/8/layout/hProcess9"/>
    <dgm:cxn modelId="{0928259B-B903-4545-885D-B7EFBF4A9E03}" type="presOf" srcId="{48ABA3E2-9283-4B55-9476-14368C28ADA5}" destId="{ABE95440-6E3E-4AEC-92C7-CA724F3F8315}" srcOrd="0" destOrd="0" presId="urn:microsoft.com/office/officeart/2005/8/layout/hProcess9"/>
    <dgm:cxn modelId="{705CE5D8-0AE5-4C49-87FE-C8C2CEC68839}" type="presOf" srcId="{9068E285-D7F5-4E36-A54F-A1B0CA13A4DC}" destId="{92C5B5DD-49CC-4D8C-9BD0-73445012D4EF}" srcOrd="0" destOrd="0" presId="urn:microsoft.com/office/officeart/2005/8/layout/hProcess9"/>
    <dgm:cxn modelId="{725424DB-DFCD-4654-8C8E-63EEDDE652F9}" srcId="{9068E285-D7F5-4E36-A54F-A1B0CA13A4DC}" destId="{48ABA3E2-9283-4B55-9476-14368C28ADA5}" srcOrd="3" destOrd="0" parTransId="{C3ED19ED-40EB-4AE3-A274-0A3E2E4C4205}" sibTransId="{C0599FEC-774F-42A8-926A-6405B5C6C9B9}"/>
    <dgm:cxn modelId="{829D8DF6-6226-48D8-89DD-80C391BCB6C4}" srcId="{9068E285-D7F5-4E36-A54F-A1B0CA13A4DC}" destId="{56CC0ECA-F5BE-447B-921A-B3BB4B82DE46}" srcOrd="2" destOrd="0" parTransId="{D8463029-0EEC-48B9-9969-6E20994B286D}" sibTransId="{62B916F3-E4F2-4CFB-80ED-AE38D0C7479E}"/>
    <dgm:cxn modelId="{B76F18F7-82D9-438E-87C4-821633535D4B}" type="presOf" srcId="{E718B674-44C7-4286-A174-5F344415AA61}" destId="{E786C344-D414-495C-9C89-2D16EE8DE6D3}" srcOrd="0" destOrd="0" presId="urn:microsoft.com/office/officeart/2005/8/layout/hProcess9"/>
    <dgm:cxn modelId="{2897F01B-F0D8-4078-BA33-6E204924C088}" type="presParOf" srcId="{92C5B5DD-49CC-4D8C-9BD0-73445012D4EF}" destId="{AD1D2E6F-1933-463D-969F-33C887B9CE23}" srcOrd="0" destOrd="0" presId="urn:microsoft.com/office/officeart/2005/8/layout/hProcess9"/>
    <dgm:cxn modelId="{62251900-BCF2-438C-9A3A-F151F12309F1}" type="presParOf" srcId="{92C5B5DD-49CC-4D8C-9BD0-73445012D4EF}" destId="{36AF4CBF-EB6E-4162-BB34-A1F26D2F4CFD}" srcOrd="1" destOrd="0" presId="urn:microsoft.com/office/officeart/2005/8/layout/hProcess9"/>
    <dgm:cxn modelId="{E5403B70-E42C-4362-B403-58F327CE2859}" type="presParOf" srcId="{36AF4CBF-EB6E-4162-BB34-A1F26D2F4CFD}" destId="{7176EDE6-74D3-4BA9-A3B7-B1CE719CAEE1}" srcOrd="0" destOrd="0" presId="urn:microsoft.com/office/officeart/2005/8/layout/hProcess9"/>
    <dgm:cxn modelId="{ADA5F29E-DCE0-48DE-BA13-E7B476F2BE81}" type="presParOf" srcId="{36AF4CBF-EB6E-4162-BB34-A1F26D2F4CFD}" destId="{635D0CE0-11C7-4BC2-A0F1-C0DD12D34768}" srcOrd="1" destOrd="0" presId="urn:microsoft.com/office/officeart/2005/8/layout/hProcess9"/>
    <dgm:cxn modelId="{0894A5F5-36CD-44CE-9766-C17217A4CA5F}" type="presParOf" srcId="{36AF4CBF-EB6E-4162-BB34-A1F26D2F4CFD}" destId="{E786C344-D414-495C-9C89-2D16EE8DE6D3}" srcOrd="2" destOrd="0" presId="urn:microsoft.com/office/officeart/2005/8/layout/hProcess9"/>
    <dgm:cxn modelId="{F8D91D12-CA10-4CE7-805D-6E78B68DF97E}" type="presParOf" srcId="{36AF4CBF-EB6E-4162-BB34-A1F26D2F4CFD}" destId="{F76E6927-ACE2-4774-8E33-D3D5FCCECFC9}" srcOrd="3" destOrd="0" presId="urn:microsoft.com/office/officeart/2005/8/layout/hProcess9"/>
    <dgm:cxn modelId="{B7C6970F-132E-4BAB-807B-60FA30D7D3FB}" type="presParOf" srcId="{36AF4CBF-EB6E-4162-BB34-A1F26D2F4CFD}" destId="{EF782BC3-9DE2-46C4-84CA-ED3F74448466}" srcOrd="4" destOrd="0" presId="urn:microsoft.com/office/officeart/2005/8/layout/hProcess9"/>
    <dgm:cxn modelId="{883890CD-6D85-4010-BBD2-9B922BCA0B8B}" type="presParOf" srcId="{36AF4CBF-EB6E-4162-BB34-A1F26D2F4CFD}" destId="{19526C81-E0D1-43F0-801A-1BCE1442FB99}" srcOrd="5" destOrd="0" presId="urn:microsoft.com/office/officeart/2005/8/layout/hProcess9"/>
    <dgm:cxn modelId="{07DFDDAC-9EEA-40B1-94AF-E3698DD0930A}" type="presParOf" srcId="{36AF4CBF-EB6E-4162-BB34-A1F26D2F4CFD}" destId="{ABE95440-6E3E-4AEC-92C7-CA724F3F831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CC28B1-EC79-4025-A314-8A2AD3ED63F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CFCD91F-4CA6-4B87-8F2A-346EE86A5E79}" type="pres">
      <dgm:prSet presAssocID="{1ECC28B1-EC79-4025-A314-8A2AD3ED63FC}" presName="diagram" presStyleCnt="0">
        <dgm:presLayoutVars>
          <dgm:dir/>
          <dgm:resizeHandles val="exact"/>
        </dgm:presLayoutVars>
      </dgm:prSet>
      <dgm:spPr/>
    </dgm:pt>
  </dgm:ptLst>
  <dgm:cxnLst>
    <dgm:cxn modelId="{60C707A5-3943-4BF0-85DC-5002D3DC9F77}" type="presOf" srcId="{1ECC28B1-EC79-4025-A314-8A2AD3ED63FC}" destId="{6CFCD91F-4CA6-4B87-8F2A-346EE86A5E7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6D589D-B476-4477-A4A5-A5DB85B3FEF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ED983E4-042F-491D-AB6E-B660E52975E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1: We divided data-cleaning tasks among members, used Excel and Power Query for preprocessing, and reviewed results collaboratively to ensure consistency.</a:t>
          </a:r>
          <a:endParaRPr lang="en-IN" dirty="0"/>
        </a:p>
      </dgm:t>
    </dgm:pt>
    <dgm:pt modelId="{4DDDC702-1F30-4F6B-A3DC-34FD53CDF8EA}" type="parTrans" cxnId="{AB877537-EFA5-42F7-AFDE-FAA6EBB84393}">
      <dgm:prSet/>
      <dgm:spPr/>
      <dgm:t>
        <a:bodyPr/>
        <a:lstStyle/>
        <a:p>
          <a:endParaRPr lang="en-IN"/>
        </a:p>
      </dgm:t>
    </dgm:pt>
    <dgm:pt modelId="{53B3BD77-33B3-4F79-BB4D-3602E7D69D9C}" type="sibTrans" cxnId="{AB877537-EFA5-42F7-AFDE-FAA6EBB84393}">
      <dgm:prSet/>
      <dgm:spPr/>
      <dgm:t>
        <a:bodyPr/>
        <a:lstStyle/>
        <a:p>
          <a:endParaRPr lang="en-IN"/>
        </a:p>
      </dgm:t>
    </dgm:pt>
    <dgm:pt modelId="{1BAA0EEC-24CB-441B-8A79-B2DB1FF81431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Resolution 2: Conducted short peer-learning sessions and shared test visuals to validate formulas and interpretations together.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5B9E37-EDA4-4D21-8A7B-60956DE717D6}" type="parTrans" cxnId="{9A73007E-EA79-4826-9355-F3D18F12CE48}">
      <dgm:prSet/>
      <dgm:spPr/>
      <dgm:t>
        <a:bodyPr/>
        <a:lstStyle/>
        <a:p>
          <a:endParaRPr lang="en-IN"/>
        </a:p>
      </dgm:t>
    </dgm:pt>
    <dgm:pt modelId="{30D68458-3796-4CA8-BC68-7E7C405102D4}" type="sibTrans" cxnId="{9A73007E-EA79-4826-9355-F3D18F12CE48}">
      <dgm:prSet/>
      <dgm:spPr/>
      <dgm:t>
        <a:bodyPr/>
        <a:lstStyle/>
        <a:p>
          <a:endParaRPr lang="en-IN"/>
        </a:p>
      </dgm:t>
    </dgm:pt>
    <dgm:pt modelId="{9BF73647-B2EC-4AE3-94D4-02A16743FBC1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Resolution 3: Weekly progress meetings and task delegation helped maintain accountability and smooth workflow.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Each challenge strengthened our coordination, problem-solving, and collective understanding of real-world project dynamics.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E31C12-474F-4BBF-A6C8-D05BFA7425E7}" type="parTrans" cxnId="{44D3FD89-DD17-4F49-91C5-999510DD2F08}">
      <dgm:prSet/>
      <dgm:spPr/>
      <dgm:t>
        <a:bodyPr/>
        <a:lstStyle/>
        <a:p>
          <a:endParaRPr lang="en-IN"/>
        </a:p>
      </dgm:t>
    </dgm:pt>
    <dgm:pt modelId="{2C784D45-FA1B-4484-94E3-9184FC962CB7}" type="sibTrans" cxnId="{44D3FD89-DD17-4F49-91C5-999510DD2F08}">
      <dgm:prSet/>
      <dgm:spPr/>
      <dgm:t>
        <a:bodyPr/>
        <a:lstStyle/>
        <a:p>
          <a:endParaRPr lang="en-IN"/>
        </a:p>
      </dgm:t>
    </dgm:pt>
    <dgm:pt modelId="{E069A7F5-5F2D-42F5-923F-1259A5DE49FF}" type="pres">
      <dgm:prSet presAssocID="{746D589D-B476-4477-A4A5-A5DB85B3FEF6}" presName="linear" presStyleCnt="0">
        <dgm:presLayoutVars>
          <dgm:animLvl val="lvl"/>
          <dgm:resizeHandles val="exact"/>
        </dgm:presLayoutVars>
      </dgm:prSet>
      <dgm:spPr/>
    </dgm:pt>
    <dgm:pt modelId="{4770F96E-3840-4015-8BAF-C50C716716AC}" type="pres">
      <dgm:prSet presAssocID="{CED983E4-042F-491D-AB6E-B660E52975EC}" presName="parentText" presStyleLbl="node1" presStyleIdx="0" presStyleCnt="3" custLinFactY="112" custLinFactNeighborX="1813" custLinFactNeighborY="100000">
        <dgm:presLayoutVars>
          <dgm:chMax val="0"/>
          <dgm:bulletEnabled val="1"/>
        </dgm:presLayoutVars>
      </dgm:prSet>
      <dgm:spPr/>
    </dgm:pt>
    <dgm:pt modelId="{78769995-E6B3-4065-B6B8-9AB91C2347A4}" type="pres">
      <dgm:prSet presAssocID="{53B3BD77-33B3-4F79-BB4D-3602E7D69D9C}" presName="spacer" presStyleCnt="0"/>
      <dgm:spPr/>
    </dgm:pt>
    <dgm:pt modelId="{51A3F2D6-6EAB-4499-A9AB-906E8A1622C0}" type="pres">
      <dgm:prSet presAssocID="{1BAA0EEC-24CB-441B-8A79-B2DB1FF814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21FA5B-D6C5-49A2-8284-F4FF2C9AA565}" type="pres">
      <dgm:prSet presAssocID="{30D68458-3796-4CA8-BC68-7E7C405102D4}" presName="spacer" presStyleCnt="0"/>
      <dgm:spPr/>
    </dgm:pt>
    <dgm:pt modelId="{68D3964C-0BDF-43B1-89F1-5FE529B56D51}" type="pres">
      <dgm:prSet presAssocID="{9BF73647-B2EC-4AE3-94D4-02A16743FB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D61CF07-183C-415F-8435-7FCF61B9B696}" type="presOf" srcId="{9BF73647-B2EC-4AE3-94D4-02A16743FBC1}" destId="{68D3964C-0BDF-43B1-89F1-5FE529B56D51}" srcOrd="0" destOrd="0" presId="urn:microsoft.com/office/officeart/2005/8/layout/vList2"/>
    <dgm:cxn modelId="{AB877537-EFA5-42F7-AFDE-FAA6EBB84393}" srcId="{746D589D-B476-4477-A4A5-A5DB85B3FEF6}" destId="{CED983E4-042F-491D-AB6E-B660E52975EC}" srcOrd="0" destOrd="0" parTransId="{4DDDC702-1F30-4F6B-A3DC-34FD53CDF8EA}" sibTransId="{53B3BD77-33B3-4F79-BB4D-3602E7D69D9C}"/>
    <dgm:cxn modelId="{EC709F4B-106E-4566-AAE7-63B463A05B8E}" type="presOf" srcId="{1BAA0EEC-24CB-441B-8A79-B2DB1FF81431}" destId="{51A3F2D6-6EAB-4499-A9AB-906E8A1622C0}" srcOrd="0" destOrd="0" presId="urn:microsoft.com/office/officeart/2005/8/layout/vList2"/>
    <dgm:cxn modelId="{9A73007E-EA79-4826-9355-F3D18F12CE48}" srcId="{746D589D-B476-4477-A4A5-A5DB85B3FEF6}" destId="{1BAA0EEC-24CB-441B-8A79-B2DB1FF81431}" srcOrd="1" destOrd="0" parTransId="{AA5B9E37-EDA4-4D21-8A7B-60956DE717D6}" sibTransId="{30D68458-3796-4CA8-BC68-7E7C405102D4}"/>
    <dgm:cxn modelId="{C052C57E-65B3-42FC-B931-E501C1BF179C}" type="presOf" srcId="{CED983E4-042F-491D-AB6E-B660E52975EC}" destId="{4770F96E-3840-4015-8BAF-C50C716716AC}" srcOrd="0" destOrd="0" presId="urn:microsoft.com/office/officeart/2005/8/layout/vList2"/>
    <dgm:cxn modelId="{44D3FD89-DD17-4F49-91C5-999510DD2F08}" srcId="{746D589D-B476-4477-A4A5-A5DB85B3FEF6}" destId="{9BF73647-B2EC-4AE3-94D4-02A16743FBC1}" srcOrd="2" destOrd="0" parTransId="{ACE31C12-474F-4BBF-A6C8-D05BFA7425E7}" sibTransId="{2C784D45-FA1B-4484-94E3-9184FC962CB7}"/>
    <dgm:cxn modelId="{6FA592E6-3479-47B3-B1C9-9D0420458689}" type="presOf" srcId="{746D589D-B476-4477-A4A5-A5DB85B3FEF6}" destId="{E069A7F5-5F2D-42F5-923F-1259A5DE49FF}" srcOrd="0" destOrd="0" presId="urn:microsoft.com/office/officeart/2005/8/layout/vList2"/>
    <dgm:cxn modelId="{1261DC4B-9848-4EC3-A0C9-F21835536B84}" type="presParOf" srcId="{E069A7F5-5F2D-42F5-923F-1259A5DE49FF}" destId="{4770F96E-3840-4015-8BAF-C50C716716AC}" srcOrd="0" destOrd="0" presId="urn:microsoft.com/office/officeart/2005/8/layout/vList2"/>
    <dgm:cxn modelId="{27EEAC20-2A28-480F-8BEF-6BECBF12F6EE}" type="presParOf" srcId="{E069A7F5-5F2D-42F5-923F-1259A5DE49FF}" destId="{78769995-E6B3-4065-B6B8-9AB91C2347A4}" srcOrd="1" destOrd="0" presId="urn:microsoft.com/office/officeart/2005/8/layout/vList2"/>
    <dgm:cxn modelId="{16A0F7C0-6FE4-4789-A333-A0D6993E401A}" type="presParOf" srcId="{E069A7F5-5F2D-42F5-923F-1259A5DE49FF}" destId="{51A3F2D6-6EAB-4499-A9AB-906E8A1622C0}" srcOrd="2" destOrd="0" presId="urn:microsoft.com/office/officeart/2005/8/layout/vList2"/>
    <dgm:cxn modelId="{68A5DF0F-741F-4706-81F3-0792D16F4077}" type="presParOf" srcId="{E069A7F5-5F2D-42F5-923F-1259A5DE49FF}" destId="{6D21FA5B-D6C5-49A2-8284-F4FF2C9AA565}" srcOrd="3" destOrd="0" presId="urn:microsoft.com/office/officeart/2005/8/layout/vList2"/>
    <dgm:cxn modelId="{38F66EF5-FEF0-40DC-AD43-AA8AF709B69F}" type="presParOf" srcId="{E069A7F5-5F2D-42F5-923F-1259A5DE49FF}" destId="{68D3964C-0BDF-43B1-89F1-5FE529B56D5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61E862-0406-465C-88CE-0D1BE4988DC3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C24FD0D-634B-47A4-A0E2-39CE2706090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1. Data Integration &amp; Cleaning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raw election dataset contained inconsistent constituency names, missing values, and formatting differences across states.</a:t>
          </a:r>
          <a:endParaRPr lang="en-IN" dirty="0"/>
        </a:p>
      </dgm:t>
    </dgm:pt>
    <dgm:pt modelId="{EA9265DE-ACA7-4EF5-992E-1CBE9843B268}" type="parTrans" cxnId="{9063854F-C32D-4D36-B2D6-2A9127E14B7E}">
      <dgm:prSet/>
      <dgm:spPr/>
      <dgm:t>
        <a:bodyPr/>
        <a:lstStyle/>
        <a:p>
          <a:endParaRPr lang="en-IN"/>
        </a:p>
      </dgm:t>
    </dgm:pt>
    <dgm:pt modelId="{C87843BF-B227-4655-9B10-18730801EDF4}" type="sibTrans" cxnId="{9063854F-C32D-4D36-B2D6-2A9127E14B7E}">
      <dgm:prSet/>
      <dgm:spPr/>
      <dgm:t>
        <a:bodyPr/>
        <a:lstStyle/>
        <a:p>
          <a:endParaRPr lang="en-IN"/>
        </a:p>
      </dgm:t>
    </dgm:pt>
    <dgm:pt modelId="{8FC381F8-24F0-4B33-AC63-044237CEFE1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3. Communication &amp; Time Management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Coordinating virtually while managing academic deadlines led to timing overlaps.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dirty="0"/>
        </a:p>
      </dgm:t>
    </dgm:pt>
    <dgm:pt modelId="{2C999459-4916-4030-91DC-868254621022}" type="parTrans" cxnId="{DC3000CE-FD2C-4D9E-AE7B-16B1F9964638}">
      <dgm:prSet/>
      <dgm:spPr/>
      <dgm:t>
        <a:bodyPr/>
        <a:lstStyle/>
        <a:p>
          <a:endParaRPr lang="en-IN"/>
        </a:p>
      </dgm:t>
    </dgm:pt>
    <dgm:pt modelId="{8A9213A3-2F3F-40FB-A89D-45D3FC5553E5}" type="sibTrans" cxnId="{DC3000CE-FD2C-4D9E-AE7B-16B1F9964638}">
      <dgm:prSet/>
      <dgm:spPr/>
      <dgm:t>
        <a:bodyPr/>
        <a:lstStyle/>
        <a:p>
          <a:endParaRPr lang="en-IN"/>
        </a:p>
      </dgm:t>
    </dgm:pt>
    <dgm:pt modelId="{0051194C-F143-42EF-8CA1-73D6848BC6B0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2. Technical Alignment in Power BI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Some members initially struggled with DAX functions and relationship modeling.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dirty="0"/>
        </a:p>
      </dgm:t>
    </dgm:pt>
    <dgm:pt modelId="{AA9C7432-0660-429B-982F-09516F58AC1A}" type="parTrans" cxnId="{FAC835B4-AE95-4EC2-B6B1-F21128A7A362}">
      <dgm:prSet/>
      <dgm:spPr/>
      <dgm:t>
        <a:bodyPr/>
        <a:lstStyle/>
        <a:p>
          <a:endParaRPr lang="en-IN"/>
        </a:p>
      </dgm:t>
    </dgm:pt>
    <dgm:pt modelId="{F1331FC2-6D39-46C9-869E-7C02D534A98C}" type="sibTrans" cxnId="{FAC835B4-AE95-4EC2-B6B1-F21128A7A362}">
      <dgm:prSet/>
      <dgm:spPr/>
      <dgm:t>
        <a:bodyPr/>
        <a:lstStyle/>
        <a:p>
          <a:endParaRPr lang="en-IN"/>
        </a:p>
      </dgm:t>
    </dgm:pt>
    <dgm:pt modelId="{7E6BF20E-6DBC-4812-A22B-D28BA7AF4FC7}" type="pres">
      <dgm:prSet presAssocID="{4661E862-0406-465C-88CE-0D1BE4988DC3}" presName="linear" presStyleCnt="0">
        <dgm:presLayoutVars>
          <dgm:animLvl val="lvl"/>
          <dgm:resizeHandles val="exact"/>
        </dgm:presLayoutVars>
      </dgm:prSet>
      <dgm:spPr/>
    </dgm:pt>
    <dgm:pt modelId="{F4A6792C-27BC-4CFA-A444-D449B5076064}" type="pres">
      <dgm:prSet presAssocID="{DC24FD0D-634B-47A4-A0E2-39CE270609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72F12F-83CC-4533-AC14-F45B8307E541}" type="pres">
      <dgm:prSet presAssocID="{C87843BF-B227-4655-9B10-18730801EDF4}" presName="spacer" presStyleCnt="0"/>
      <dgm:spPr/>
    </dgm:pt>
    <dgm:pt modelId="{05C60253-11C1-4329-872C-5074507DDC79}" type="pres">
      <dgm:prSet presAssocID="{0051194C-F143-42EF-8CA1-73D6848BC6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CA3F87-8968-41A0-958C-DC5B68345951}" type="pres">
      <dgm:prSet presAssocID="{F1331FC2-6D39-46C9-869E-7C02D534A98C}" presName="spacer" presStyleCnt="0"/>
      <dgm:spPr/>
    </dgm:pt>
    <dgm:pt modelId="{AE6B669D-C0DB-45A3-914D-5D761F05A858}" type="pres">
      <dgm:prSet presAssocID="{8FC381F8-24F0-4B33-AC63-044237CEFE1B}" presName="parentText" presStyleLbl="node1" presStyleIdx="2" presStyleCnt="3" custLinFactNeighborX="1981" custLinFactNeighborY="43564">
        <dgm:presLayoutVars>
          <dgm:chMax val="0"/>
          <dgm:bulletEnabled val="1"/>
        </dgm:presLayoutVars>
      </dgm:prSet>
      <dgm:spPr/>
    </dgm:pt>
  </dgm:ptLst>
  <dgm:cxnLst>
    <dgm:cxn modelId="{DD8DCE0A-7530-45C5-A6A1-943E82163C72}" type="presOf" srcId="{8FC381F8-24F0-4B33-AC63-044237CEFE1B}" destId="{AE6B669D-C0DB-45A3-914D-5D761F05A858}" srcOrd="0" destOrd="0" presId="urn:microsoft.com/office/officeart/2005/8/layout/vList2"/>
    <dgm:cxn modelId="{B85F0721-FDAE-49E6-857A-F9ED1730CCDD}" type="presOf" srcId="{4661E862-0406-465C-88CE-0D1BE4988DC3}" destId="{7E6BF20E-6DBC-4812-A22B-D28BA7AF4FC7}" srcOrd="0" destOrd="0" presId="urn:microsoft.com/office/officeart/2005/8/layout/vList2"/>
    <dgm:cxn modelId="{8A5D5232-50C1-45FF-9C98-75C0F9B5E1A1}" type="presOf" srcId="{DC24FD0D-634B-47A4-A0E2-39CE27060904}" destId="{F4A6792C-27BC-4CFA-A444-D449B5076064}" srcOrd="0" destOrd="0" presId="urn:microsoft.com/office/officeart/2005/8/layout/vList2"/>
    <dgm:cxn modelId="{9063854F-C32D-4D36-B2D6-2A9127E14B7E}" srcId="{4661E862-0406-465C-88CE-0D1BE4988DC3}" destId="{DC24FD0D-634B-47A4-A0E2-39CE27060904}" srcOrd="0" destOrd="0" parTransId="{EA9265DE-ACA7-4EF5-992E-1CBE9843B268}" sibTransId="{C87843BF-B227-4655-9B10-18730801EDF4}"/>
    <dgm:cxn modelId="{0B74E695-0099-4FAC-AC3D-37384BBA8857}" type="presOf" srcId="{0051194C-F143-42EF-8CA1-73D6848BC6B0}" destId="{05C60253-11C1-4329-872C-5074507DDC79}" srcOrd="0" destOrd="0" presId="urn:microsoft.com/office/officeart/2005/8/layout/vList2"/>
    <dgm:cxn modelId="{FAC835B4-AE95-4EC2-B6B1-F21128A7A362}" srcId="{4661E862-0406-465C-88CE-0D1BE4988DC3}" destId="{0051194C-F143-42EF-8CA1-73D6848BC6B0}" srcOrd="1" destOrd="0" parTransId="{AA9C7432-0660-429B-982F-09516F58AC1A}" sibTransId="{F1331FC2-6D39-46C9-869E-7C02D534A98C}"/>
    <dgm:cxn modelId="{DC3000CE-FD2C-4D9E-AE7B-16B1F9964638}" srcId="{4661E862-0406-465C-88CE-0D1BE4988DC3}" destId="{8FC381F8-24F0-4B33-AC63-044237CEFE1B}" srcOrd="2" destOrd="0" parTransId="{2C999459-4916-4030-91DC-868254621022}" sibTransId="{8A9213A3-2F3F-40FB-A89D-45D3FC5553E5}"/>
    <dgm:cxn modelId="{432F8F72-C0EF-4D24-BB78-BEF7CC0C0404}" type="presParOf" srcId="{7E6BF20E-6DBC-4812-A22B-D28BA7AF4FC7}" destId="{F4A6792C-27BC-4CFA-A444-D449B5076064}" srcOrd="0" destOrd="0" presId="urn:microsoft.com/office/officeart/2005/8/layout/vList2"/>
    <dgm:cxn modelId="{DBA0B85B-C513-46BA-93E4-4619A935EB56}" type="presParOf" srcId="{7E6BF20E-6DBC-4812-A22B-D28BA7AF4FC7}" destId="{7272F12F-83CC-4533-AC14-F45B8307E541}" srcOrd="1" destOrd="0" presId="urn:microsoft.com/office/officeart/2005/8/layout/vList2"/>
    <dgm:cxn modelId="{1CA60D7C-5267-4950-A295-8CBF6B0BFA8B}" type="presParOf" srcId="{7E6BF20E-6DBC-4812-A22B-D28BA7AF4FC7}" destId="{05C60253-11C1-4329-872C-5074507DDC79}" srcOrd="2" destOrd="0" presId="urn:microsoft.com/office/officeart/2005/8/layout/vList2"/>
    <dgm:cxn modelId="{30BD87B7-92D6-4866-AB7D-C9FC157167E6}" type="presParOf" srcId="{7E6BF20E-6DBC-4812-A22B-D28BA7AF4FC7}" destId="{43CA3F87-8968-41A0-958C-DC5B68345951}" srcOrd="3" destOrd="0" presId="urn:microsoft.com/office/officeart/2005/8/layout/vList2"/>
    <dgm:cxn modelId="{D53F140C-0D3B-48F5-9C51-A96CA7A85A15}" type="presParOf" srcId="{7E6BF20E-6DBC-4812-A22B-D28BA7AF4FC7}" destId="{AE6B669D-C0DB-45A3-914D-5D761F05A8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8D375-0671-4323-91E0-58935A6458DB}">
      <dsp:nvSpPr>
        <dsp:cNvPr id="0" name=""/>
        <dsp:cNvSpPr/>
      </dsp:nvSpPr>
      <dsp:spPr>
        <a:xfrm>
          <a:off x="75301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1"/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49D42F-E2B9-479F-90DF-39ACA2F3AADB}">
      <dsp:nvSpPr>
        <dsp:cNvPr id="0" name=""/>
        <dsp:cNvSpPr/>
      </dsp:nvSpPr>
      <dsp:spPr>
        <a:xfrm>
          <a:off x="75301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Introduction Dashboard: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Overview of data and objectives.</a:t>
          </a:r>
          <a:endParaRPr lang="en-IN" sz="16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753017" y="1662680"/>
        <a:ext cx="2409580" cy="893954"/>
      </dsp:txXfrm>
    </dsp:sp>
    <dsp:sp modelId="{03C9FF60-C086-4C9E-970C-594E08B665F1}">
      <dsp:nvSpPr>
        <dsp:cNvPr id="0" name=""/>
        <dsp:cNvSpPr/>
      </dsp:nvSpPr>
      <dsp:spPr>
        <a:xfrm>
          <a:off x="340365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2"/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3DC5F1-4BFE-4092-8777-B3999B62DFB1}">
      <dsp:nvSpPr>
        <dsp:cNvPr id="0" name=""/>
        <dsp:cNvSpPr/>
      </dsp:nvSpPr>
      <dsp:spPr>
        <a:xfrm>
          <a:off x="340365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National Overview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Total votes, turnout, and party share.</a:t>
          </a:r>
        </a:p>
      </dsp:txBody>
      <dsp:txXfrm>
        <a:off x="3403657" y="1662680"/>
        <a:ext cx="2409580" cy="893954"/>
      </dsp:txXfrm>
    </dsp:sp>
    <dsp:sp modelId="{3AFD8542-AC95-4CA5-8BED-44939BE38EF1}">
      <dsp:nvSpPr>
        <dsp:cNvPr id="0" name=""/>
        <dsp:cNvSpPr/>
      </dsp:nvSpPr>
      <dsp:spPr>
        <a:xfrm>
          <a:off x="605429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3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FBAA2F-8753-421D-BF90-226FE0E682B0}">
      <dsp:nvSpPr>
        <dsp:cNvPr id="0" name=""/>
        <dsp:cNvSpPr/>
      </dsp:nvSpPr>
      <dsp:spPr>
        <a:xfrm>
          <a:off x="605429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State-wise Analysis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:Regional performance comparisons.</a:t>
          </a:r>
        </a:p>
      </dsp:txBody>
      <dsp:txXfrm>
        <a:off x="6054297" y="1662680"/>
        <a:ext cx="2409580" cy="893954"/>
      </dsp:txXfrm>
    </dsp:sp>
    <dsp:sp modelId="{6D0C42C8-764D-477C-AED9-C8725487B5D0}">
      <dsp:nvSpPr>
        <dsp:cNvPr id="0" name=""/>
        <dsp:cNvSpPr/>
      </dsp:nvSpPr>
      <dsp:spPr>
        <a:xfrm>
          <a:off x="870493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4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003FB4-26DF-4EE5-A07F-93C86E97E230}">
      <dsp:nvSpPr>
        <dsp:cNvPr id="0" name=""/>
        <dsp:cNvSpPr/>
      </dsp:nvSpPr>
      <dsp:spPr>
        <a:xfrm>
          <a:off x="870493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Party </a:t>
          </a:r>
          <a:r>
            <a:rPr lang="en-US" sz="1600" b="1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Performance</a:t>
          </a:r>
          <a:r>
            <a:rPr lang="en-US" sz="16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Seat share, dominance, and competition.</a:t>
          </a:r>
          <a:endParaRPr lang="en-US" sz="16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8704937" y="1662680"/>
        <a:ext cx="2409580" cy="893954"/>
      </dsp:txXfrm>
    </dsp:sp>
    <dsp:sp modelId="{70A54725-4679-480B-B7EC-2EB957E5796B}">
      <dsp:nvSpPr>
        <dsp:cNvPr id="0" name=""/>
        <dsp:cNvSpPr/>
      </dsp:nvSpPr>
      <dsp:spPr>
        <a:xfrm>
          <a:off x="3403657" y="2797593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5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90D7E3-4C94-4D49-974F-3E8535E13A7A}">
      <dsp:nvSpPr>
        <dsp:cNvPr id="0" name=""/>
        <dsp:cNvSpPr/>
      </dsp:nvSpPr>
      <dsp:spPr>
        <a:xfrm>
          <a:off x="3403657" y="4457794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Vote Share Trends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Pattern shifts and regional differences.</a:t>
          </a:r>
        </a:p>
      </dsp:txBody>
      <dsp:txXfrm>
        <a:off x="3403657" y="4457794"/>
        <a:ext cx="2409580" cy="893954"/>
      </dsp:txXfrm>
    </dsp:sp>
    <dsp:sp modelId="{D989D73E-0C2B-4A45-BE55-66FE455271A8}">
      <dsp:nvSpPr>
        <dsp:cNvPr id="0" name=""/>
        <dsp:cNvSpPr/>
      </dsp:nvSpPr>
      <dsp:spPr>
        <a:xfrm>
          <a:off x="6054297" y="2797593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6"/>
          <a:srcRect/>
          <a:stretch>
            <a:fillRect l="-9000" r="-9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CFD9F9-2427-49BB-9BE3-DD0F8D98EDDE}">
      <dsp:nvSpPr>
        <dsp:cNvPr id="0" name=""/>
        <dsp:cNvSpPr/>
      </dsp:nvSpPr>
      <dsp:spPr>
        <a:xfrm>
          <a:off x="6054297" y="4457794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EVM vs Postal Votes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Comparison of voting methods.</a:t>
          </a:r>
        </a:p>
      </dsp:txBody>
      <dsp:txXfrm>
        <a:off x="6054297" y="4457794"/>
        <a:ext cx="2409580" cy="8939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D2E6F-1933-463D-969F-33C887B9CE23}">
      <dsp:nvSpPr>
        <dsp:cNvPr id="0" name=""/>
        <dsp:cNvSpPr/>
      </dsp:nvSpPr>
      <dsp:spPr>
        <a:xfrm>
          <a:off x="2" y="0"/>
          <a:ext cx="11847865" cy="452120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EDE6-74D3-4BA9-A3B7-B1CE719CAEE1}">
      <dsp:nvSpPr>
        <dsp:cNvPr id="0" name=""/>
        <dsp:cNvSpPr/>
      </dsp:nvSpPr>
      <dsp:spPr>
        <a:xfrm>
          <a:off x="15509" y="949271"/>
          <a:ext cx="2716450" cy="260370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Acquisition &amp; Cleaning: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and refined the Lok Sabha election dataset, removing inconsistencies and formatting data for Power BI integration.</a:t>
          </a:r>
          <a:br>
            <a:rPr lang="en-US" sz="1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300" kern="1200" dirty="0"/>
        </a:p>
      </dsp:txBody>
      <dsp:txXfrm>
        <a:off x="142611" y="1076373"/>
        <a:ext cx="2462246" cy="2349500"/>
      </dsp:txXfrm>
    </dsp:sp>
    <dsp:sp modelId="{E786C344-D414-495C-9C89-2D16EE8DE6D3}">
      <dsp:nvSpPr>
        <dsp:cNvPr id="0" name=""/>
        <dsp:cNvSpPr/>
      </dsp:nvSpPr>
      <dsp:spPr>
        <a:xfrm>
          <a:off x="3080066" y="925932"/>
          <a:ext cx="2605811" cy="2669334"/>
        </a:xfrm>
        <a:prstGeom prst="roundRect">
          <a:avLst/>
        </a:prstGeom>
        <a:solidFill>
          <a:schemeClr val="accent3">
            <a:hueOff val="35984"/>
            <a:satOff val="952"/>
            <a:lumOff val="-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Modeling: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Built relationships between multiple tables, defined DAX measures, and ensured seamless data flow for accurate analysis.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3207271" y="1053137"/>
        <a:ext cx="2351401" cy="2414924"/>
      </dsp:txXfrm>
    </dsp:sp>
    <dsp:sp modelId="{EF782BC3-9DE2-46C4-84CA-ED3F74448466}">
      <dsp:nvSpPr>
        <dsp:cNvPr id="0" name=""/>
        <dsp:cNvSpPr/>
      </dsp:nvSpPr>
      <dsp:spPr>
        <a:xfrm>
          <a:off x="6045132" y="932199"/>
          <a:ext cx="2742792" cy="2656801"/>
        </a:xfrm>
        <a:prstGeom prst="roundRect">
          <a:avLst/>
        </a:prstGeom>
        <a:solidFill>
          <a:schemeClr val="accent3">
            <a:hueOff val="71968"/>
            <a:satOff val="1903"/>
            <a:lumOff val="-90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 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 Development: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Designed interactive visuals for national, state, and party-level insights with a focus on clarity and usability.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6174826" y="1061893"/>
        <a:ext cx="2483404" cy="2397413"/>
      </dsp:txXfrm>
    </dsp:sp>
    <dsp:sp modelId="{ABE95440-6E3E-4AEC-92C7-CA724F3F8315}">
      <dsp:nvSpPr>
        <dsp:cNvPr id="0" name=""/>
        <dsp:cNvSpPr/>
      </dsp:nvSpPr>
      <dsp:spPr>
        <a:xfrm>
          <a:off x="9147178" y="925869"/>
          <a:ext cx="2696330" cy="2669461"/>
        </a:xfrm>
        <a:prstGeom prst="roundRect">
          <a:avLst/>
        </a:prstGeom>
        <a:solidFill>
          <a:schemeClr val="accent3">
            <a:hueOff val="107953"/>
            <a:satOff val="2855"/>
            <a:lumOff val="-1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 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Optimization: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Conducted internal reviews, incorporated mentor feedback, and enhanced visual storytelling and performance.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9277490" y="1056181"/>
        <a:ext cx="2435706" cy="24088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0F96E-3840-4015-8BAF-C50C716716AC}">
      <dsp:nvSpPr>
        <dsp:cNvPr id="0" name=""/>
        <dsp:cNvSpPr/>
      </dsp:nvSpPr>
      <dsp:spPr>
        <a:xfrm>
          <a:off x="0" y="447469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1: We divided data-cleaning tasks among members, used Excel and Power Query for preprocessing, and reviewed results collaboratively to ensure consistency.</a:t>
          </a:r>
          <a:endParaRPr lang="en-IN" sz="1600" kern="1200" dirty="0"/>
        </a:p>
      </dsp:txBody>
      <dsp:txXfrm>
        <a:off x="64368" y="511837"/>
        <a:ext cx="5654746" cy="1189854"/>
      </dsp:txXfrm>
    </dsp:sp>
    <dsp:sp modelId="{51A3F2D6-6EAB-4499-A9AB-906E8A1622C0}">
      <dsp:nvSpPr>
        <dsp:cNvPr id="0" name=""/>
        <dsp:cNvSpPr/>
      </dsp:nvSpPr>
      <dsp:spPr>
        <a:xfrm>
          <a:off x="0" y="1764583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Resolution 2: Conducted short peer-learning sessions and shared test visuals to validate formulas and interpretations together.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368" y="1828951"/>
        <a:ext cx="5654746" cy="1189854"/>
      </dsp:txXfrm>
    </dsp:sp>
    <dsp:sp modelId="{68D3964C-0BDF-43B1-89F1-5FE529B56D51}">
      <dsp:nvSpPr>
        <dsp:cNvPr id="0" name=""/>
        <dsp:cNvSpPr/>
      </dsp:nvSpPr>
      <dsp:spPr>
        <a:xfrm>
          <a:off x="0" y="3129253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Resolution 3: Weekly progress meetings and task delegation helped maintain accountability and smooth workflow.</a:t>
          </a:r>
          <a:b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Each challenge strengthened our coordination, problem-solving, and collective understanding of real-world project dynamics.</a:t>
          </a:r>
          <a:b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368" y="3193621"/>
        <a:ext cx="5654746" cy="1189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6792C-27BC-4CFA-A444-D449B5076064}">
      <dsp:nvSpPr>
        <dsp:cNvPr id="0" name=""/>
        <dsp:cNvSpPr/>
      </dsp:nvSpPr>
      <dsp:spPr>
        <a:xfrm>
          <a:off x="0" y="23837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Data Integration &amp; Cleaning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raw election dataset contained inconsistent constituency names, missing values, and formatting differences across states.</a:t>
          </a:r>
          <a:endParaRPr lang="en-IN" sz="1900" kern="1200" dirty="0"/>
        </a:p>
      </dsp:txBody>
      <dsp:txXfrm>
        <a:off x="62940" y="86777"/>
        <a:ext cx="5333392" cy="1163460"/>
      </dsp:txXfrm>
    </dsp:sp>
    <dsp:sp modelId="{05C60253-11C1-4329-872C-5074507DDC79}">
      <dsp:nvSpPr>
        <dsp:cNvPr id="0" name=""/>
        <dsp:cNvSpPr/>
      </dsp:nvSpPr>
      <dsp:spPr>
        <a:xfrm>
          <a:off x="0" y="1367898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2. Technical Alignment in Power BI</a:t>
          </a:r>
          <a:b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Some members initially struggled with DAX functions and relationship modeling.</a:t>
          </a:r>
          <a:b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900" kern="1200" dirty="0"/>
        </a:p>
      </dsp:txBody>
      <dsp:txXfrm>
        <a:off x="62940" y="1430838"/>
        <a:ext cx="5333392" cy="1163460"/>
      </dsp:txXfrm>
    </dsp:sp>
    <dsp:sp modelId="{AE6B669D-C0DB-45A3-914D-5D761F05A858}">
      <dsp:nvSpPr>
        <dsp:cNvPr id="0" name=""/>
        <dsp:cNvSpPr/>
      </dsp:nvSpPr>
      <dsp:spPr>
        <a:xfrm>
          <a:off x="0" y="2735796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Communication &amp; Time Management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Coordinating virtually while managing academic deadlines led to timing overlaps.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900" kern="1200" dirty="0"/>
        </a:p>
      </dsp:txBody>
      <dsp:txXfrm>
        <a:off x="62940" y="2798736"/>
        <a:ext cx="5333392" cy="1163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188F62-6734-CAF1-1061-DA477432684B}"/>
              </a:ext>
            </a:extLst>
          </p:cNvPr>
          <p:cNvSpPr txBox="1"/>
          <p:nvPr/>
        </p:nvSpPr>
        <p:spPr>
          <a:xfrm>
            <a:off x="206091" y="2976252"/>
            <a:ext cx="90085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ElectViz</a:t>
            </a:r>
            <a:r>
              <a:rPr lang="en-US" sz="2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Election Data Visualization for Media</a:t>
            </a:r>
            <a:br>
              <a:rPr lang="en-US" sz="2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28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9C38C-B959-0427-7F10-202893A87710}"/>
              </a:ext>
            </a:extLst>
          </p:cNvPr>
          <p:cNvSpPr txBox="1"/>
          <p:nvPr/>
        </p:nvSpPr>
        <p:spPr>
          <a:xfrm>
            <a:off x="4316361" y="5380672"/>
            <a:ext cx="65249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Interns: Chaithra 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Dronadula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Srilekha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Moumita Mukherjee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Boomika B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Dishant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Gangwar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FCDC0-8A5E-47DE-6BA5-72F88AE8101F}"/>
              </a:ext>
            </a:extLst>
          </p:cNvPr>
          <p:cNvSpPr txBox="1"/>
          <p:nvPr/>
        </p:nvSpPr>
        <p:spPr>
          <a:xfrm>
            <a:off x="1494503" y="2278316"/>
            <a:ext cx="6988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Infosys Springboard – Virtual Internship 6.0</a:t>
            </a:r>
            <a:br>
              <a:rPr lang="en-US" sz="2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CD4C3-062D-BFF8-860F-7CB2644DB8A7}"/>
              </a:ext>
            </a:extLst>
          </p:cNvPr>
          <p:cNvSpPr txBox="1"/>
          <p:nvPr/>
        </p:nvSpPr>
        <p:spPr>
          <a:xfrm>
            <a:off x="8482779" y="4918275"/>
            <a:ext cx="6263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Mentor: </a:t>
            </a: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Nithyasri S J</a:t>
            </a:r>
            <a:endParaRPr lang="en-IN" dirty="0"/>
          </a:p>
        </p:txBody>
      </p:sp>
      <p:pic>
        <p:nvPicPr>
          <p:cNvPr id="12" name="Picture Placeholder 3">
            <a:extLst>
              <a:ext uri="{FF2B5EF4-FFF2-40B4-BE49-F238E27FC236}">
                <a16:creationId xmlns:a16="http://schemas.microsoft.com/office/drawing/2014/main" id="{1A7369FE-BB74-4C21-7BAC-627A02F5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83" r="21283"/>
          <a:stretch>
            <a:fillRect/>
          </a:stretch>
        </p:blipFill>
        <p:spPr>
          <a:xfrm>
            <a:off x="8129204" y="-1264403"/>
            <a:ext cx="4500562" cy="4521200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B2CC-BD9C-5FD4-B8FE-77C93406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378" y="136526"/>
            <a:ext cx="10212297" cy="1269829"/>
          </a:xfrm>
        </p:spPr>
        <p:txBody>
          <a:bodyPr/>
          <a:lstStyle/>
          <a:p>
            <a:r>
              <a:rPr lang="en-US" sz="3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Objectives: Driving Data-Driven Democracy</a:t>
            </a:r>
            <a:b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F4DC03B-B30B-0D12-A43B-3B342A9BB945}"/>
              </a:ext>
            </a:extLst>
          </p:cNvPr>
          <p:cNvSpPr/>
          <p:nvPr/>
        </p:nvSpPr>
        <p:spPr>
          <a:xfrm>
            <a:off x="734378" y="577572"/>
            <a:ext cx="13161645" cy="13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endParaRPr lang="en-US" sz="41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248A19-B253-0DC2-2147-AADD34BDBF8C}"/>
              </a:ext>
            </a:extLst>
          </p:cNvPr>
          <p:cNvGrpSpPr/>
          <p:nvPr/>
        </p:nvGrpSpPr>
        <p:grpSpPr>
          <a:xfrm>
            <a:off x="162950" y="1847401"/>
            <a:ext cx="11866099" cy="4433027"/>
            <a:chOff x="734378" y="2308503"/>
            <a:chExt cx="13161644" cy="5236069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563C9092-B1F6-4A34-16DA-6B41961D85EA}"/>
                </a:ext>
              </a:extLst>
            </p:cNvPr>
            <p:cNvSpPr/>
            <p:nvPr/>
          </p:nvSpPr>
          <p:spPr>
            <a:xfrm>
              <a:off x="734378" y="2308503"/>
              <a:ext cx="6475928" cy="2398990"/>
            </a:xfrm>
            <a:prstGeom prst="roundRect">
              <a:avLst>
                <a:gd name="adj" fmla="val 7872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A7E47F14-6D70-17E1-F1DD-C5EC629EB27A}"/>
                </a:ext>
              </a:extLst>
            </p:cNvPr>
            <p:cNvSpPr/>
            <p:nvPr/>
          </p:nvSpPr>
          <p:spPr>
            <a:xfrm>
              <a:off x="977683" y="2644994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BE8468F5-4907-107A-C3BB-D845C8DD1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4903" y="2818112"/>
              <a:ext cx="283250" cy="283250"/>
            </a:xfrm>
            <a:prstGeom prst="rect">
              <a:avLst/>
            </a:prstGeom>
          </p:spPr>
        </p:pic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E4C315D1-E2A3-5CD1-4E78-0C4D81C2A6AD}"/>
                </a:ext>
              </a:extLst>
            </p:cNvPr>
            <p:cNvSpPr/>
            <p:nvPr/>
          </p:nvSpPr>
          <p:spPr>
            <a:xfrm>
              <a:off x="2008465" y="2767129"/>
              <a:ext cx="2846784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Dynamic Dashboards</a:t>
              </a:r>
              <a:endParaRPr lang="en-US" sz="2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737ECC93-F53C-2C2D-AB21-7D08DCB49704}"/>
                </a:ext>
              </a:extLst>
            </p:cNvPr>
            <p:cNvSpPr/>
            <p:nvPr/>
          </p:nvSpPr>
          <p:spPr>
            <a:xfrm>
              <a:off x="951786" y="3460058"/>
              <a:ext cx="6041112" cy="671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Develop interactive visualizations for election data trends, outcomes, and historical patterns across constituencies.</a:t>
              </a:r>
            </a:p>
          </p:txBody>
        </p:sp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9D283488-E5D2-4AC7-53F2-4943A82BF9A3}"/>
                </a:ext>
              </a:extLst>
            </p:cNvPr>
            <p:cNvSpPr/>
            <p:nvPr/>
          </p:nvSpPr>
          <p:spPr>
            <a:xfrm>
              <a:off x="7420094" y="2308503"/>
              <a:ext cx="6475928" cy="2398990"/>
            </a:xfrm>
            <a:prstGeom prst="roundRect">
              <a:avLst>
                <a:gd name="adj" fmla="val 7872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5284217F-0F84-906B-E4F0-0E1DFFF86A30}"/>
                </a:ext>
              </a:extLst>
            </p:cNvPr>
            <p:cNvSpPr/>
            <p:nvPr/>
          </p:nvSpPr>
          <p:spPr>
            <a:xfrm>
              <a:off x="7637502" y="2525911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12" name="Image 1" descr="preencoded.png">
              <a:extLst>
                <a:ext uri="{FF2B5EF4-FFF2-40B4-BE49-F238E27FC236}">
                  <a16:creationId xmlns:a16="http://schemas.microsoft.com/office/drawing/2014/main" id="{79E70E61-D987-3FD0-E226-FFA6D372C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10619" y="2699028"/>
              <a:ext cx="283250" cy="283250"/>
            </a:xfrm>
            <a:prstGeom prst="rect">
              <a:avLst/>
            </a:prstGeom>
          </p:spPr>
        </p:pic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A1ABCBF3-16EA-FD7C-C6FC-69EBECDD9690}"/>
                </a:ext>
              </a:extLst>
            </p:cNvPr>
            <p:cNvSpPr/>
            <p:nvPr/>
          </p:nvSpPr>
          <p:spPr>
            <a:xfrm>
              <a:off x="8686286" y="2668689"/>
              <a:ext cx="2924651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50"/>
                </a:lnSpc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Performance Analysis</a:t>
              </a: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89D12A21-0911-9EF1-0C56-644C97C4D268}"/>
                </a:ext>
              </a:extLst>
            </p:cNvPr>
            <p:cNvSpPr/>
            <p:nvPr/>
          </p:nvSpPr>
          <p:spPr>
            <a:xfrm>
              <a:off x="7637502" y="3460118"/>
              <a:ext cx="6041112" cy="671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Compare party performances and state-level voting patterns with granular detail and statistical </a:t>
              </a:r>
              <a:r>
                <a:rPr lang="en-US" sz="2050" b="1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rigour</a:t>
              </a: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EB614231-629E-F3E7-7C21-F8BF947636B5}"/>
                </a:ext>
              </a:extLst>
            </p:cNvPr>
            <p:cNvSpPr/>
            <p:nvPr/>
          </p:nvSpPr>
          <p:spPr>
            <a:xfrm>
              <a:off x="734379" y="4917284"/>
              <a:ext cx="6582038" cy="2627288"/>
            </a:xfrm>
            <a:prstGeom prst="roundRect">
              <a:avLst>
                <a:gd name="adj" fmla="val 6906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29597D43-E7C9-D6AA-3321-35C9392B7CD7}"/>
                </a:ext>
              </a:extLst>
            </p:cNvPr>
            <p:cNvSpPr/>
            <p:nvPr/>
          </p:nvSpPr>
          <p:spPr>
            <a:xfrm>
              <a:off x="951786" y="5134689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17" name="Image 2" descr="preencoded.png">
              <a:extLst>
                <a:ext uri="{FF2B5EF4-FFF2-40B4-BE49-F238E27FC236}">
                  <a16:creationId xmlns:a16="http://schemas.microsoft.com/office/drawing/2014/main" id="{E7BDA2CF-6F7E-5859-6AA6-A8A009B3B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903" y="5307806"/>
              <a:ext cx="283250" cy="283250"/>
            </a:xfrm>
            <a:prstGeom prst="rect">
              <a:avLst/>
            </a:prstGeom>
          </p:spPr>
        </p:pic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2B9F61D-2B78-5D7A-6A5A-6C0A199E1FC5}"/>
                </a:ext>
              </a:extLst>
            </p:cNvPr>
            <p:cNvSpPr/>
            <p:nvPr/>
          </p:nvSpPr>
          <p:spPr>
            <a:xfrm>
              <a:off x="2039183" y="5224847"/>
              <a:ext cx="2816066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50"/>
                </a:lnSpc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Voting Mode Insights</a:t>
              </a:r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D652B542-D2F2-B797-D9C1-85D6C789B7B8}"/>
                </a:ext>
              </a:extLst>
            </p:cNvPr>
            <p:cNvSpPr/>
            <p:nvPr/>
          </p:nvSpPr>
          <p:spPr>
            <a:xfrm>
              <a:off x="1169193" y="6072047"/>
              <a:ext cx="6041112" cy="671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Analyze EVM versus Postal votes and their impact on final election results and margins.</a:t>
              </a:r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3236D69D-58E3-D7CB-393E-61B8C4B3B4B5}"/>
                </a:ext>
              </a:extLst>
            </p:cNvPr>
            <p:cNvSpPr/>
            <p:nvPr/>
          </p:nvSpPr>
          <p:spPr>
            <a:xfrm>
              <a:off x="7449729" y="4914989"/>
              <a:ext cx="6446293" cy="2627288"/>
            </a:xfrm>
            <a:prstGeom prst="roundRect">
              <a:avLst>
                <a:gd name="adj" fmla="val 6906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782E9E25-EE9F-6595-5BFA-C819004F2F1A}"/>
                </a:ext>
              </a:extLst>
            </p:cNvPr>
            <p:cNvSpPr/>
            <p:nvPr/>
          </p:nvSpPr>
          <p:spPr>
            <a:xfrm>
              <a:off x="7637502" y="5134689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35C06DD3-C587-9249-E6EE-EDDA9944D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10619" y="5307806"/>
              <a:ext cx="283250" cy="283250"/>
            </a:xfrm>
            <a:prstGeom prst="rect">
              <a:avLst/>
            </a:prstGeom>
          </p:spPr>
        </p:pic>
        <p:sp>
          <p:nvSpPr>
            <p:cNvPr id="23" name="Text 15">
              <a:extLst>
                <a:ext uri="{FF2B5EF4-FFF2-40B4-BE49-F238E27FC236}">
                  <a16:creationId xmlns:a16="http://schemas.microsoft.com/office/drawing/2014/main" id="{48236789-4848-2AE2-13AE-86C92FD2A131}"/>
                </a:ext>
              </a:extLst>
            </p:cNvPr>
            <p:cNvSpPr/>
            <p:nvPr/>
          </p:nvSpPr>
          <p:spPr>
            <a:xfrm>
              <a:off x="8686286" y="5224847"/>
              <a:ext cx="2622828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50"/>
                </a:lnSpc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Decision Support</a:t>
              </a: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1C56DAD8-C991-433B-4FD9-45F23E495547}"/>
                </a:ext>
              </a:extLst>
            </p:cNvPr>
            <p:cNvSpPr/>
            <p:nvPr/>
          </p:nvSpPr>
          <p:spPr>
            <a:xfrm>
              <a:off x="7751233" y="5939329"/>
              <a:ext cx="6041113" cy="1006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Enable data-driven insights to support media professionals, researchers, and policymakers in understanding electoral dynamics.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5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38CD-56E0-69F7-978E-65B1F611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3222" y="290221"/>
            <a:ext cx="6856456" cy="610726"/>
          </a:xfrm>
        </p:spPr>
        <p:txBody>
          <a:bodyPr/>
          <a:lstStyle/>
          <a:p>
            <a:r>
              <a:rPr lang="en-IN" sz="3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Description</a:t>
            </a:r>
            <a:b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F58CE8-34BC-1CA7-3ADE-61EB968FA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9663903"/>
              </p:ext>
            </p:extLst>
          </p:nvPr>
        </p:nvGraphicFramePr>
        <p:xfrm>
          <a:off x="-353961" y="1367246"/>
          <a:ext cx="11867535" cy="5354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1B57C7-05B2-A76F-E836-52949708113A}"/>
              </a:ext>
            </a:extLst>
          </p:cNvPr>
          <p:cNvSpPr txBox="1"/>
          <p:nvPr/>
        </p:nvSpPr>
        <p:spPr>
          <a:xfrm>
            <a:off x="58994" y="595584"/>
            <a:ext cx="109629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ElectViz</a:t>
            </a:r>
            <a:r>
              <a:rPr lang="en-US" dirty="0"/>
              <a:t> integrates election data into a </a:t>
            </a:r>
            <a:r>
              <a:rPr lang="en-US" b="1" dirty="0"/>
              <a:t>multi-dashboard Power BI report</a:t>
            </a:r>
            <a:r>
              <a:rPr lang="en-US" dirty="0"/>
              <a:t>, presenting a layered view of India’s electoral trends.</a:t>
            </a:r>
            <a:r>
              <a:rPr lang="en-US" b="1" dirty="0"/>
              <a:t> 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99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FFE1-D7E3-0441-03F4-58C40BBB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13" y="406823"/>
            <a:ext cx="9779183" cy="52724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Top Visualizations Used in the Project</a:t>
            </a:r>
            <a:endParaRPr lang="en-IN" sz="32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8971E5-2443-BAFE-C44F-6F312F9DE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100665"/>
              </p:ext>
            </p:extLst>
          </p:nvPr>
        </p:nvGraphicFramePr>
        <p:xfrm>
          <a:off x="2035816" y="1298382"/>
          <a:ext cx="7156806" cy="489209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385602">
                  <a:extLst>
                    <a:ext uri="{9D8B030D-6E8A-4147-A177-3AD203B41FA5}">
                      <a16:colId xmlns:a16="http://schemas.microsoft.com/office/drawing/2014/main" val="394939966"/>
                    </a:ext>
                  </a:extLst>
                </a:gridCol>
                <a:gridCol w="3847511">
                  <a:extLst>
                    <a:ext uri="{9D8B030D-6E8A-4147-A177-3AD203B41FA5}">
                      <a16:colId xmlns:a16="http://schemas.microsoft.com/office/drawing/2014/main" val="1299549665"/>
                    </a:ext>
                  </a:extLst>
                </a:gridCol>
                <a:gridCol w="923693">
                  <a:extLst>
                    <a:ext uri="{9D8B030D-6E8A-4147-A177-3AD203B41FA5}">
                      <a16:colId xmlns:a16="http://schemas.microsoft.com/office/drawing/2014/main" val="3032489549"/>
                    </a:ext>
                  </a:extLst>
                </a:gridCol>
              </a:tblGrid>
              <a:tr h="22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Visual Type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Purpose / What It Shows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Icon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979863122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KPI Cards / Tiles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key metrics like Total Votes, Total Candidates, Total States, Avg Vote Share, etc.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🔢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491697545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Bar / Column Charts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For Top 10 Parties by Votes, Votes by Candidate, Votes by Party comparisons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📊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535985859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Pie / Donut Charts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Vote Share by Party, Candidate Status (Won/Lost)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🥯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431301875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Maps (Filled Map / Shape Map)</a:t>
                      </a:r>
                      <a:endParaRPr lang="en-US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Statewise or Regionwise dominance of parties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🌍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103564295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Line Charts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display Vote trends across states or over regions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📈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197575680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Tree Map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distribution of votes and winners count by state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🧭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668068877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Tables / Matrix Visuals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For detailed breakdowns – Candidate, Constituency, State, Party, Votes, Results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📋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313750214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Gauge / Semi-Donut Chart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highlight EVM Vote % or performance benchmark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🎯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955856154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Scatter / Combined Chart (Line + Area)</a:t>
                      </a:r>
                      <a:endParaRPr lang="en-US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relate EVM Votes, Constituencies, and Total Votes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⚙️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814965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29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A15-29BD-C387-8C67-F7920F5B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260" y="263832"/>
            <a:ext cx="5486400" cy="1248697"/>
          </a:xfrm>
        </p:spPr>
        <p:txBody>
          <a:bodyPr/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Execution Milestones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E25206-E8FC-AE3F-E812-6EEF1B01D565}"/>
              </a:ext>
            </a:extLst>
          </p:cNvPr>
          <p:cNvSpPr txBox="1">
            <a:spLocks/>
          </p:cNvSpPr>
          <p:nvPr/>
        </p:nvSpPr>
        <p:spPr>
          <a:xfrm>
            <a:off x="4246234" y="5522452"/>
            <a:ext cx="7837611" cy="16369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br>
              <a:rPr lang="en-US" sz="1800" b="0" dirty="0"/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executed through four structured milestones to ensure systematic progress and analytical accuracy.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F94BC8B-326A-252D-BD6B-0B405BD8D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222682"/>
              </p:ext>
            </p:extLst>
          </p:nvPr>
        </p:nvGraphicFramePr>
        <p:xfrm>
          <a:off x="235974" y="1053690"/>
          <a:ext cx="11847871" cy="452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5466AD-5F93-BA6A-6B81-52E727F68D33}"/>
              </a:ext>
            </a:extLst>
          </p:cNvPr>
          <p:cNvSpPr txBox="1"/>
          <p:nvPr/>
        </p:nvSpPr>
        <p:spPr>
          <a:xfrm>
            <a:off x="4246234" y="4966907"/>
            <a:ext cx="609600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 Sabha 2024 Results &amp; Candidates (from Kaggle)</a:t>
            </a:r>
          </a:p>
        </p:txBody>
      </p:sp>
    </p:spTree>
    <p:extLst>
      <p:ext uri="{BB962C8B-B14F-4D97-AF65-F5344CB8AC3E}">
        <p14:creationId xmlns:p14="http://schemas.microsoft.com/office/powerpoint/2010/main" val="63765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C1DC-7EF9-0671-D4F0-220349BD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464" y="-205378"/>
            <a:ext cx="9779183" cy="1108204"/>
          </a:xfrm>
        </p:spPr>
        <p:txBody>
          <a:bodyPr/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 Faced and Resolution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936AD78-4E99-1027-24D6-693C778CFAF6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3836523119"/>
              </p:ext>
            </p:extLst>
          </p:nvPr>
        </p:nvGraphicFramePr>
        <p:xfrm>
          <a:off x="6283325" y="2024063"/>
          <a:ext cx="4664075" cy="333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4FF6C2E-C6AF-6E44-2584-837ED9BDB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198195"/>
              </p:ext>
            </p:extLst>
          </p:nvPr>
        </p:nvGraphicFramePr>
        <p:xfrm>
          <a:off x="5987971" y="812264"/>
          <a:ext cx="5783482" cy="4847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0C4784A-C876-BABF-80E0-B7FF2F408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268841"/>
              </p:ext>
            </p:extLst>
          </p:nvPr>
        </p:nvGraphicFramePr>
        <p:xfrm>
          <a:off x="420547" y="1223574"/>
          <a:ext cx="5459272" cy="402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04074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79ADB9-A320-91D4-D9C7-F1ABB0E0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43" y="3875425"/>
            <a:ext cx="6220278" cy="3262811"/>
          </a:xfrm>
        </p:spPr>
        <p:txBody>
          <a:bodyPr>
            <a:normAutofit fontScale="90000"/>
          </a:bodyPr>
          <a:lstStyle/>
          <a:p>
            <a:r>
              <a:rPr lang="en-IN" sz="27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Learnings &amp; Skills Acquired</a:t>
            </a:r>
            <a:br>
              <a:rPr lang="en-IN" sz="27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700" b="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Skills: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DAX (Power BI)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 in Excel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Storytelling &amp; Visualization Design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Development &amp; Insight Reporting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Skills: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under time constraints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&amp; collaborative review with mentors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and analytical summarization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bridged academic knowledge with practical, industry-oriented analytics exposure.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69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4D65-F7D9-CB64-D877-24189B9C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177" y="743577"/>
            <a:ext cx="3402928" cy="1000837"/>
          </a:xfrm>
        </p:spPr>
        <p:txBody>
          <a:bodyPr/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Future Enhancements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98AF-EBD8-5DC2-BBB2-4FDBEDAE3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147" y="1875663"/>
            <a:ext cx="9779182" cy="33668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election feeds using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predictive analytics for forecasting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mobile-friendly Power BI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demographic analysis for deeper insights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026A4-AAE8-EA1A-6DFE-AE6485DD2226}"/>
              </a:ext>
            </a:extLst>
          </p:cNvPr>
          <p:cNvSpPr txBox="1"/>
          <p:nvPr/>
        </p:nvSpPr>
        <p:spPr>
          <a:xfrm>
            <a:off x="651077" y="953547"/>
            <a:ext cx="6094070" cy="368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Insights:</a:t>
            </a:r>
          </a:p>
          <a:p>
            <a:endParaRPr lang="en-US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revealed clear regional variations in voter turnout and party dominance across states.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national parties showed concentrated influence in specific zones, while smaller parties gained localized traction.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with higher turnout often correlated with narrower winning margins, indicating stronger competition.</a:t>
            </a:r>
          </a:p>
        </p:txBody>
      </p:sp>
    </p:spTree>
    <p:extLst>
      <p:ext uri="{BB962C8B-B14F-4D97-AF65-F5344CB8AC3E}">
        <p14:creationId xmlns:p14="http://schemas.microsoft.com/office/powerpoint/2010/main" val="192828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297A-2D3F-0058-D9D0-834FC168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7162" y="349718"/>
            <a:ext cx="9779183" cy="586842"/>
          </a:xfrm>
        </p:spPr>
        <p:txBody>
          <a:bodyPr/>
          <a:lstStyle/>
          <a:p>
            <a:pPr algn="ctr"/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C7BF4-8BD0-1793-65B2-B8835DEF9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696" y="1239880"/>
            <a:ext cx="9779183" cy="463981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transformed raw election datasets into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and meaningful insights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experience enhanced both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expertise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thinking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aligning closely with career aspirations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research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provided a valuable opportunity to apply classroom knowledge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 storytelling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experience reinforced the value of structured data analytics in creating informed, data-driven narratives.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14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895" y="627927"/>
            <a:ext cx="8721212" cy="555523"/>
          </a:xfrm>
        </p:spPr>
        <p:txBody>
          <a:bodyPr/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Acknowledgements and 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266" y="1825096"/>
            <a:ext cx="7272324" cy="5154437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our heartfelt gratitude to: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Team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organizing this valuable internship opportunity.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Mentor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her continuous support and feedback.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Teammates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for collaboration, encouragement, and insights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has been a significant step in our professional growth and technical journey.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Dataset (Election Commission of India / Kaggle source)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 course materials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B29C194-7884-3F23-D7E6-0823B4E910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99" b="299"/>
          <a:stretch/>
        </p:blipFill>
        <p:spPr>
          <a:xfrm>
            <a:off x="7373073" y="1041477"/>
            <a:ext cx="4710320" cy="4521200"/>
          </a:xfrm>
          <a:prstGeom prst="ellipse">
            <a:avLst/>
          </a:prstGeom>
          <a:solidFill>
            <a:srgbClr val="DAE5EF"/>
          </a:solidFill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517" y="501644"/>
            <a:ext cx="6245912" cy="326944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MileStone 2</Template>
  <TotalTime>302</TotalTime>
  <Words>974</Words>
  <Application>Microsoft Office PowerPoint</Application>
  <PresentationFormat>Widescreen</PresentationFormat>
  <Paragraphs>110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ADLaM Display</vt:lpstr>
      <vt:lpstr>Arial</vt:lpstr>
      <vt:lpstr>Calibri</vt:lpstr>
      <vt:lpstr>Tenorite</vt:lpstr>
      <vt:lpstr>Times New Roman</vt:lpstr>
      <vt:lpstr>Custom</vt:lpstr>
      <vt:lpstr>PowerPoint Presentation</vt:lpstr>
      <vt:lpstr>Project Objectives: Driving Data-Driven Democracy </vt:lpstr>
      <vt:lpstr>Project Description </vt:lpstr>
      <vt:lpstr>Top Visualizations Used in the Project</vt:lpstr>
      <vt:lpstr>Project Execution Milestones</vt:lpstr>
      <vt:lpstr>Challenges Faced and Resolution </vt:lpstr>
      <vt:lpstr>Learnings &amp; Skills Acquired  Technical Skills: Data Modeling &amp; DAX (Power BI) Data Cleaning &amp; Transformation in Excel Analytical Storytelling &amp; Visualization Design KPI Development &amp; Insight Reporting  Soft Skills: Problem-solving under time constraints Communication &amp; collaborative review with mentors Presentation and analytical summarization  This internship bridged academic knowledge with practical, industry-oriented analytics exposure. </vt:lpstr>
      <vt:lpstr>Future Enhancements </vt:lpstr>
      <vt:lpstr>Conclusion </vt:lpstr>
      <vt:lpstr>Acknowledgements and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Chaithra R</dc:creator>
  <cp:lastModifiedBy>Chaithra R</cp:lastModifiedBy>
  <cp:revision>3</cp:revision>
  <dcterms:created xsi:type="dcterms:W3CDTF">2025-10-31T06:43:36Z</dcterms:created>
  <dcterms:modified xsi:type="dcterms:W3CDTF">2025-10-31T12:23:05Z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